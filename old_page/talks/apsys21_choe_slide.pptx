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7" r:id="rId11"/>
    <p:sldId id="266" r:id="rId12"/>
    <p:sldId id="265" r:id="rId13"/>
    <p:sldId id="268" r:id="rId14"/>
    <p:sldId id="269" r:id="rId15"/>
    <p:sldId id="270" r:id="rId16"/>
    <p:sldId id="271" r:id="rId17"/>
    <p:sldId id="272" r:id="rId18"/>
    <p:sldId id="276" r:id="rId19"/>
    <p:sldId id="275" r:id="rId20"/>
    <p:sldId id="273" r:id="rId21"/>
    <p:sldId id="274" r:id="rId22"/>
  </p:sldIdLst>
  <p:sldSz cx="12192000" cy="6858000"/>
  <p:notesSz cx="6858000" cy="9144000"/>
  <p:defaultText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2B00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28"/>
    <p:restoredTop sz="69660"/>
  </p:normalViewPr>
  <p:slideViewPr>
    <p:cSldViewPr snapToGrid="0" snapToObjects="1">
      <p:cViewPr varScale="1">
        <p:scale>
          <a:sx n="87" d="100"/>
          <a:sy n="87" d="100"/>
        </p:scale>
        <p:origin x="1992" y="192"/>
      </p:cViewPr>
      <p:guideLst/>
    </p:cSldViewPr>
  </p:slideViewPr>
  <p:notesTextViewPr>
    <p:cViewPr>
      <p:scale>
        <a:sx n="140" d="100"/>
        <a:sy n="14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3A39E-2A4C-3543-ABD9-375FE703A05F}" type="datetimeFigureOut">
              <a:rPr lang="en-KR" smtClean="0"/>
              <a:t>9/6/21</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8DCBBE-ED3A-8F42-B7BB-8A5DEB4EBA1D}" type="slidenum">
              <a:rPr lang="en-KR" smtClean="0"/>
              <a:t>‹#›</a:t>
            </a:fld>
            <a:endParaRPr lang="en-KR"/>
          </a:p>
        </p:txBody>
      </p:sp>
    </p:spTree>
    <p:extLst>
      <p:ext uri="{BB962C8B-B14F-4D97-AF65-F5344CB8AC3E}">
        <p14:creationId xmlns:p14="http://schemas.microsoft.com/office/powerpoint/2010/main" val="934988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Hello, everyone. I am Wonkyo Choe and will be starting a Ph.D in the following Fall semester. This work is about a new memory placement on large-memory systems using multi-chip characteristics. The work is done with two advisors, Sang-Hoon Kim and Jeongseob Ahn. (Clxick)</a:t>
            </a:r>
          </a:p>
        </p:txBody>
      </p:sp>
      <p:sp>
        <p:nvSpPr>
          <p:cNvPr id="4" name="Slide Number Placeholder 3"/>
          <p:cNvSpPr>
            <a:spLocks noGrp="1"/>
          </p:cNvSpPr>
          <p:nvPr>
            <p:ph type="sldNum" sz="quarter" idx="5"/>
          </p:nvPr>
        </p:nvSpPr>
        <p:spPr/>
        <p:txBody>
          <a:bodyPr/>
          <a:lstStyle/>
          <a:p>
            <a:fld id="{338DCBBE-ED3A-8F42-B7BB-8A5DEB4EBA1D}" type="slidenum">
              <a:rPr lang="en-KR" smtClean="0"/>
              <a:t>1</a:t>
            </a:fld>
            <a:endParaRPr lang="en-KR"/>
          </a:p>
        </p:txBody>
      </p:sp>
    </p:spTree>
    <p:extLst>
      <p:ext uri="{BB962C8B-B14F-4D97-AF65-F5344CB8AC3E}">
        <p14:creationId xmlns:p14="http://schemas.microsoft.com/office/powerpoint/2010/main" val="1418110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The data centers build large-memory systems to handle a huge amount of data. For this purpose, they mainly use multi-chip systems, which refers to 4 or more processors not just dual chips. These systems usually have one or two memory controllers so they get a large amount of memory capacity.</a:t>
            </a:r>
          </a:p>
          <a:p>
            <a:endParaRPr lang="en-KR" dirty="0"/>
          </a:p>
          <a:p>
            <a:r>
              <a:rPr lang="en-KR" dirty="0"/>
              <a:t>With this trend, the major chip manufactures put an effort to develop a scalable processor. An example of this is EPYC chip from AMD and Xeon chip from Intel corporations.</a:t>
            </a:r>
          </a:p>
          <a:p>
            <a:endParaRPr lang="en-KR" dirty="0"/>
          </a:p>
          <a:p>
            <a:r>
              <a:rPr lang="en-KR" dirty="0"/>
              <a:t>The main benefit of those processors is an advanced technology, point-to-point interconnect which provides almost the same latency on remote access across the chips.  Each vendor has different name of it: One is Infinity Fabric from AMD, the other is Ultra Path Interconnect from Intel.</a:t>
            </a:r>
          </a:p>
          <a:p>
            <a:endParaRPr lang="en-KR" dirty="0"/>
          </a:p>
          <a:p>
            <a:r>
              <a:rPr lang="en-KR" dirty="0"/>
              <a:t>First, let’s look at the characteristics of this interconnect in detail. (Click)</a:t>
            </a:r>
          </a:p>
          <a:p>
            <a:endParaRPr lang="en-KR" dirty="0"/>
          </a:p>
        </p:txBody>
      </p:sp>
      <p:sp>
        <p:nvSpPr>
          <p:cNvPr id="4" name="Slide Number Placeholder 3"/>
          <p:cNvSpPr>
            <a:spLocks noGrp="1"/>
          </p:cNvSpPr>
          <p:nvPr>
            <p:ph type="sldNum" sz="quarter" idx="5"/>
          </p:nvPr>
        </p:nvSpPr>
        <p:spPr/>
        <p:txBody>
          <a:bodyPr/>
          <a:lstStyle/>
          <a:p>
            <a:fld id="{338DCBBE-ED3A-8F42-B7BB-8A5DEB4EBA1D}" type="slidenum">
              <a:rPr lang="en-KR" smtClean="0"/>
              <a:t>2</a:t>
            </a:fld>
            <a:endParaRPr lang="en-KR"/>
          </a:p>
        </p:txBody>
      </p:sp>
    </p:spTree>
    <p:extLst>
      <p:ext uri="{BB962C8B-B14F-4D97-AF65-F5344CB8AC3E}">
        <p14:creationId xmlns:p14="http://schemas.microsoft.com/office/powerpoint/2010/main" val="427308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graph is a read latency of different processors. One with the thick blue color is Intel processor and the other with the pale thin marine blue color is AMD processor. For Intel processor, we use physical Intel Xeon processor and for AMD processor, we use AWS instance which uses </a:t>
            </a:r>
            <a:r>
              <a:rPr lang="en-US" sz="1200" b="0" i="0" kern="1200" dirty="0">
                <a:solidFill>
                  <a:schemeClr val="tx1"/>
                </a:solidFill>
                <a:effectLst/>
                <a:latin typeface="+mn-lt"/>
                <a:ea typeface="+mn-ea"/>
                <a:cs typeface="+mn-cs"/>
              </a:rPr>
              <a:t>2.5 GHz AMD EPYC 7000 series processors. </a:t>
            </a:r>
            <a:r>
              <a:rPr lang="en-US" dirty="0"/>
              <a:t>A X axis refers each NUMA node, and a Y axis refers latency. </a:t>
            </a:r>
          </a:p>
          <a:p>
            <a:endParaRPr lang="en-US" dirty="0"/>
          </a:p>
          <a:p>
            <a:r>
              <a:rPr lang="en-US" dirty="0"/>
              <a:t>In this graph, we can figure that the remote access latencies do not have significant gap with each other. </a:t>
            </a:r>
          </a:p>
          <a:p>
            <a:endParaRPr lang="en-US" dirty="0"/>
          </a:p>
          <a:p>
            <a:r>
              <a:rPr lang="en-US" dirty="0"/>
              <a:t>Due to this feature, we produce an idea like this (Click): </a:t>
            </a:r>
            <a:r>
              <a:rPr lang="en-KR" sz="1200" b="0" i="0" dirty="0">
                <a:solidFill>
                  <a:srgbClr val="C00000"/>
                </a:solidFill>
              </a:rPr>
              <a:t>If the latencies are not that different, doesn’t it matter to allocate memory on any nodes?</a:t>
            </a:r>
          </a:p>
          <a:p>
            <a:endParaRPr lang="en-KR" sz="1200" b="0" i="0" dirty="0">
              <a:solidFill>
                <a:srgbClr val="C00000"/>
              </a:solidFill>
            </a:endParaRPr>
          </a:p>
          <a:p>
            <a:r>
              <a:rPr lang="en-KR" sz="1200" b="0" i="0" dirty="0">
                <a:solidFill>
                  <a:srgbClr val="C00000"/>
                </a:solidFill>
              </a:rPr>
              <a:t>To check this in detail, we dig out how OS works to allocate memory. (Click)</a:t>
            </a:r>
          </a:p>
          <a:p>
            <a:endParaRPr lang="en-US" dirty="0"/>
          </a:p>
          <a:p>
            <a:endParaRPr lang="en-US" dirty="0"/>
          </a:p>
        </p:txBody>
      </p:sp>
      <p:sp>
        <p:nvSpPr>
          <p:cNvPr id="4" name="Slide Number Placeholder 3"/>
          <p:cNvSpPr>
            <a:spLocks noGrp="1"/>
          </p:cNvSpPr>
          <p:nvPr>
            <p:ph type="sldNum" sz="quarter" idx="5"/>
          </p:nvPr>
        </p:nvSpPr>
        <p:spPr/>
        <p:txBody>
          <a:bodyPr/>
          <a:lstStyle/>
          <a:p>
            <a:fld id="{338DCBBE-ED3A-8F42-B7BB-8A5DEB4EBA1D}" type="slidenum">
              <a:rPr lang="en-KR" smtClean="0"/>
              <a:t>3</a:t>
            </a:fld>
            <a:endParaRPr lang="en-KR"/>
          </a:p>
        </p:txBody>
      </p:sp>
    </p:spTree>
    <p:extLst>
      <p:ext uri="{BB962C8B-B14F-4D97-AF65-F5344CB8AC3E}">
        <p14:creationId xmlns:p14="http://schemas.microsoft.com/office/powerpoint/2010/main" val="2112809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In OS, especially Linux kernel, based on Intel Scalable processor, Linux consists of each physical chip as an abstract CPU node. We call it NUMA node. Like the square graphic, a CPU node represents a physical CPU and the below boxes represent a memory node. (Click)</a:t>
            </a:r>
          </a:p>
        </p:txBody>
      </p:sp>
      <p:sp>
        <p:nvSpPr>
          <p:cNvPr id="4" name="Slide Number Placeholder 3"/>
          <p:cNvSpPr>
            <a:spLocks noGrp="1"/>
          </p:cNvSpPr>
          <p:nvPr>
            <p:ph type="sldNum" sz="quarter" idx="5"/>
          </p:nvPr>
        </p:nvSpPr>
        <p:spPr/>
        <p:txBody>
          <a:bodyPr/>
          <a:lstStyle/>
          <a:p>
            <a:fld id="{338DCBBE-ED3A-8F42-B7BB-8A5DEB4EBA1D}" type="slidenum">
              <a:rPr lang="en-KR" smtClean="0"/>
              <a:t>4</a:t>
            </a:fld>
            <a:endParaRPr lang="en-KR"/>
          </a:p>
        </p:txBody>
      </p:sp>
    </p:spTree>
    <p:extLst>
      <p:ext uri="{BB962C8B-B14F-4D97-AF65-F5344CB8AC3E}">
        <p14:creationId xmlns:p14="http://schemas.microsoft.com/office/powerpoint/2010/main" val="3264315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In Linux, based on the previous node information, it gives pages to processes. The default mem policy is first-touch. This policy allows a process to use the local memory first and the rest of nodes will be used when the local memory ends. In other words, when the local memory is not enough memory, the kernel finds other node to </a:t>
            </a:r>
            <a:r>
              <a:rPr lang="en-US" dirty="0"/>
              <a:t>provide the memory. In this process, the kernel uses fallback node list which is statically configured upon the boot.</a:t>
            </a:r>
          </a:p>
          <a:p>
            <a:endParaRPr lang="en-US" dirty="0"/>
          </a:p>
          <a:p>
            <a:r>
              <a:rPr lang="en-US" dirty="0"/>
              <a:t>For example, one application is running on CPU-0. (Click) </a:t>
            </a:r>
          </a:p>
          <a:p>
            <a:r>
              <a:rPr lang="en-US" dirty="0"/>
              <a:t>Considering the policy, the app uses the local memory (Click)</a:t>
            </a:r>
          </a:p>
          <a:p>
            <a:r>
              <a:rPr lang="en-US" dirty="0"/>
              <a:t>and then based on fallback node list, it allocates memory in the following order. Node 1 or DIMM-1 (Click) </a:t>
            </a:r>
          </a:p>
          <a:p>
            <a:r>
              <a:rPr lang="en-US" dirty="0"/>
              <a:t>DIMM-2 (Click)</a:t>
            </a:r>
          </a:p>
          <a:p>
            <a:r>
              <a:rPr lang="en-US" dirty="0"/>
              <a:t>And the last DIMM-3 (Click)</a:t>
            </a:r>
          </a:p>
          <a:p>
            <a:endParaRPr lang="en-US" dirty="0"/>
          </a:p>
          <a:p>
            <a:r>
              <a:rPr lang="en-KR" dirty="0"/>
              <a:t>If the app stays in CPU-2. It uses the local memory based on the default policy.</a:t>
            </a:r>
          </a:p>
          <a:p>
            <a:r>
              <a:rPr lang="en-KR" dirty="0"/>
              <a:t>Again, following the fallback node list, the kernel let the process use DIMM-3 memory </a:t>
            </a:r>
          </a:p>
          <a:p>
            <a:r>
              <a:rPr lang="en-US" dirty="0"/>
              <a:t>A</a:t>
            </a:r>
            <a:r>
              <a:rPr lang="en-KR" dirty="0"/>
              <a:t>nd then DIMM-0, Lastly, DIMM-1</a:t>
            </a:r>
          </a:p>
          <a:p>
            <a:endParaRPr lang="en-KR" dirty="0"/>
          </a:p>
        </p:txBody>
      </p:sp>
      <p:sp>
        <p:nvSpPr>
          <p:cNvPr id="4" name="Slide Number Placeholder 3"/>
          <p:cNvSpPr>
            <a:spLocks noGrp="1"/>
          </p:cNvSpPr>
          <p:nvPr>
            <p:ph type="sldNum" sz="quarter" idx="5"/>
          </p:nvPr>
        </p:nvSpPr>
        <p:spPr/>
        <p:txBody>
          <a:bodyPr/>
          <a:lstStyle/>
          <a:p>
            <a:fld id="{338DCBBE-ED3A-8F42-B7BB-8A5DEB4EBA1D}" type="slidenum">
              <a:rPr lang="en-KR" smtClean="0"/>
              <a:t>5</a:t>
            </a:fld>
            <a:endParaRPr lang="en-KR"/>
          </a:p>
        </p:txBody>
      </p:sp>
    </p:spTree>
    <p:extLst>
      <p:ext uri="{BB962C8B-B14F-4D97-AF65-F5344CB8AC3E}">
        <p14:creationId xmlns:p14="http://schemas.microsoft.com/office/powerpoint/2010/main" val="1003628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If the app stays in CPU-2. It uses the local memory based on the default policy.</a:t>
            </a:r>
          </a:p>
          <a:p>
            <a:r>
              <a:rPr lang="en-KR" dirty="0"/>
              <a:t>Again, following the fallback node list, the kernel let the process use DIMM-3 memory </a:t>
            </a:r>
          </a:p>
          <a:p>
            <a:r>
              <a:rPr lang="en-US" dirty="0"/>
              <a:t>A</a:t>
            </a:r>
            <a:r>
              <a:rPr lang="en-KR" dirty="0"/>
              <a:t>nd then DIMM-0, Lastly, DIMM-1</a:t>
            </a:r>
          </a:p>
        </p:txBody>
      </p:sp>
      <p:sp>
        <p:nvSpPr>
          <p:cNvPr id="4" name="Slide Number Placeholder 3"/>
          <p:cNvSpPr>
            <a:spLocks noGrp="1"/>
          </p:cNvSpPr>
          <p:nvPr>
            <p:ph type="sldNum" sz="quarter" idx="5"/>
          </p:nvPr>
        </p:nvSpPr>
        <p:spPr/>
        <p:txBody>
          <a:bodyPr/>
          <a:lstStyle/>
          <a:p>
            <a:fld id="{338DCBBE-ED3A-8F42-B7BB-8A5DEB4EBA1D}" type="slidenum">
              <a:rPr lang="en-KR" smtClean="0"/>
              <a:t>6</a:t>
            </a:fld>
            <a:endParaRPr lang="en-KR"/>
          </a:p>
        </p:txBody>
      </p:sp>
    </p:spTree>
    <p:extLst>
      <p:ext uri="{BB962C8B-B14F-4D97-AF65-F5344CB8AC3E}">
        <p14:creationId xmlns:p14="http://schemas.microsoft.com/office/powerpoint/2010/main" val="4214706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With the previous insight: One is gained from interconnect technology of the multi-chip systems and the ot</a:t>
            </a:r>
            <a:r>
              <a:rPr lang="en-US" dirty="0"/>
              <a:t>her one is from Linux fallback list; We found an opportunity to exploit those features for better performance and look for how we efficiently use multiple paths.</a:t>
            </a:r>
          </a:p>
          <a:p>
            <a:endParaRPr lang="en-US" dirty="0"/>
          </a:p>
          <a:p>
            <a:r>
              <a:rPr lang="en-US" dirty="0"/>
              <a:t>On top of that, we found another problem when multiple applications are running, and we concluded that memory interference hampers applications when they are using the same node. </a:t>
            </a:r>
          </a:p>
          <a:p>
            <a:endParaRPr lang="en-US" dirty="0"/>
          </a:p>
          <a:p>
            <a:r>
              <a:rPr lang="en-US" dirty="0"/>
              <a:t>Let’s see how it looks like (Click)</a:t>
            </a:r>
            <a:endParaRPr lang="en-KR" dirty="0"/>
          </a:p>
        </p:txBody>
      </p:sp>
      <p:sp>
        <p:nvSpPr>
          <p:cNvPr id="4" name="Slide Number Placeholder 3"/>
          <p:cNvSpPr>
            <a:spLocks noGrp="1"/>
          </p:cNvSpPr>
          <p:nvPr>
            <p:ph type="sldNum" sz="quarter" idx="5"/>
          </p:nvPr>
        </p:nvSpPr>
        <p:spPr/>
        <p:txBody>
          <a:bodyPr/>
          <a:lstStyle/>
          <a:p>
            <a:fld id="{338DCBBE-ED3A-8F42-B7BB-8A5DEB4EBA1D}" type="slidenum">
              <a:rPr lang="en-KR" smtClean="0"/>
              <a:t>7</a:t>
            </a:fld>
            <a:endParaRPr lang="en-KR"/>
          </a:p>
        </p:txBody>
      </p:sp>
    </p:spTree>
    <p:extLst>
      <p:ext uri="{BB962C8B-B14F-4D97-AF65-F5344CB8AC3E}">
        <p14:creationId xmlns:p14="http://schemas.microsoft.com/office/powerpoint/2010/main" val="4097277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For brevity, assume that there are two memory intensive applications are running. App A is using over the local memory capacity and App B is using only the half of its local memory. In this scenario, we found two main problems which prevent apps from showing better performance.</a:t>
            </a:r>
          </a:p>
          <a:p>
            <a:endParaRPr lang="en-KR" dirty="0"/>
          </a:p>
          <a:p>
            <a:r>
              <a:rPr lang="en-KR" dirty="0"/>
              <a:t>(Click) The first one is memory interference. As it shows, due to the app A’s memory, App B cannot use enough memory bandwidth. </a:t>
            </a:r>
            <a:r>
              <a:rPr lang="en-US" dirty="0"/>
              <a:t>On the other hand, App A is also experiencing performance drop because App B is currently using the DIMM-1 memory. </a:t>
            </a:r>
          </a:p>
          <a:p>
            <a:endParaRPr lang="en-US" dirty="0"/>
          </a:p>
          <a:p>
            <a:r>
              <a:rPr lang="en-US" dirty="0"/>
              <a:t>(Click) Second, other memory nodes are idle. Since Linux relies on the fallback list, it does not allocate memory even if others have enough.</a:t>
            </a:r>
          </a:p>
          <a:p>
            <a:endParaRPr lang="en-US" dirty="0"/>
          </a:p>
          <a:p>
            <a:r>
              <a:rPr lang="en-US" dirty="0"/>
              <a:t>With these two problem, we concluded that there should be a better memory placement to handle them. (Click)</a:t>
            </a:r>
            <a:endParaRPr lang="en-KR" dirty="0"/>
          </a:p>
        </p:txBody>
      </p:sp>
      <p:sp>
        <p:nvSpPr>
          <p:cNvPr id="4" name="Slide Number Placeholder 3"/>
          <p:cNvSpPr>
            <a:spLocks noGrp="1"/>
          </p:cNvSpPr>
          <p:nvPr>
            <p:ph type="sldNum" sz="quarter" idx="5"/>
          </p:nvPr>
        </p:nvSpPr>
        <p:spPr/>
        <p:txBody>
          <a:bodyPr/>
          <a:lstStyle/>
          <a:p>
            <a:fld id="{338DCBBE-ED3A-8F42-B7BB-8A5DEB4EBA1D}" type="slidenum">
              <a:rPr lang="en-KR" smtClean="0"/>
              <a:t>8</a:t>
            </a:fld>
            <a:endParaRPr lang="en-KR"/>
          </a:p>
        </p:txBody>
      </p:sp>
    </p:spTree>
    <p:extLst>
      <p:ext uri="{BB962C8B-B14F-4D97-AF65-F5344CB8AC3E}">
        <p14:creationId xmlns:p14="http://schemas.microsoft.com/office/powerpoint/2010/main" val="1090992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In summary, from the first insight, exising system not exploit diverse memory path, and the second insight, the current memory placment causes memory interference. (Click)</a:t>
            </a:r>
          </a:p>
          <a:p>
            <a:endParaRPr lang="en-KR" dirty="0"/>
          </a:p>
          <a:p>
            <a:r>
              <a:rPr lang="en-KR" dirty="0"/>
              <a:t>We designed our simple memory placement techniques for the Linux kernel. We call it Hybrid and Usage-aware memory placement. (Click)</a:t>
            </a:r>
          </a:p>
        </p:txBody>
      </p:sp>
      <p:sp>
        <p:nvSpPr>
          <p:cNvPr id="4" name="Slide Number Placeholder 3"/>
          <p:cNvSpPr>
            <a:spLocks noGrp="1"/>
          </p:cNvSpPr>
          <p:nvPr>
            <p:ph type="sldNum" sz="quarter" idx="5"/>
          </p:nvPr>
        </p:nvSpPr>
        <p:spPr/>
        <p:txBody>
          <a:bodyPr/>
          <a:lstStyle/>
          <a:p>
            <a:fld id="{338DCBBE-ED3A-8F42-B7BB-8A5DEB4EBA1D}" type="slidenum">
              <a:rPr lang="en-KR" smtClean="0"/>
              <a:t>9</a:t>
            </a:fld>
            <a:endParaRPr lang="en-KR"/>
          </a:p>
        </p:txBody>
      </p:sp>
    </p:spTree>
    <p:extLst>
      <p:ext uri="{BB962C8B-B14F-4D97-AF65-F5344CB8AC3E}">
        <p14:creationId xmlns:p14="http://schemas.microsoft.com/office/powerpoint/2010/main" val="2296946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For the rest of talk, I will introduce the design of each memory placement, and performance evaluation. Also, I will talk about our facing problems as discussion and will end with conclusion. (Click)</a:t>
            </a:r>
          </a:p>
        </p:txBody>
      </p:sp>
      <p:sp>
        <p:nvSpPr>
          <p:cNvPr id="4" name="Slide Number Placeholder 3"/>
          <p:cNvSpPr>
            <a:spLocks noGrp="1"/>
          </p:cNvSpPr>
          <p:nvPr>
            <p:ph type="sldNum" sz="quarter" idx="5"/>
          </p:nvPr>
        </p:nvSpPr>
        <p:spPr/>
        <p:txBody>
          <a:bodyPr/>
          <a:lstStyle/>
          <a:p>
            <a:fld id="{338DCBBE-ED3A-8F42-B7BB-8A5DEB4EBA1D}" type="slidenum">
              <a:rPr lang="en-KR" smtClean="0"/>
              <a:t>10</a:t>
            </a:fld>
            <a:endParaRPr lang="en-KR"/>
          </a:p>
        </p:txBody>
      </p:sp>
    </p:spTree>
    <p:extLst>
      <p:ext uri="{BB962C8B-B14F-4D97-AF65-F5344CB8AC3E}">
        <p14:creationId xmlns:p14="http://schemas.microsoft.com/office/powerpoint/2010/main" val="3745942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First, let’s look at the hybrid memory placement. Hybrid memory placement is combination between exisiting first-touch and page-interleave policy.</a:t>
            </a:r>
          </a:p>
          <a:p>
            <a:r>
              <a:rPr lang="en-KR" dirty="0"/>
              <a:t>I will introduce how it works. Before going into the design, note that our case is every node has only one application. </a:t>
            </a:r>
          </a:p>
          <a:p>
            <a:r>
              <a:rPr lang="en-KR" dirty="0"/>
              <a:t>Let say, except for App A, other application uses only their own the local memory and their threads are also pinned on the local node.</a:t>
            </a:r>
          </a:p>
          <a:p>
            <a:r>
              <a:rPr lang="en-KR" dirty="0"/>
              <a:t>App A is only the one that uses a large memory. Currently, App A takes all the local memory. So far, all applications are under the first-touch rule.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KR" dirty="0"/>
          </a:p>
          <a:p>
            <a:pPr marL="0" marR="0" lvl="0" indent="0" algn="l" defTabSz="914400" rtl="0" eaLnBrk="1" fontAlgn="auto" latinLnBrk="0" hangingPunct="1">
              <a:lnSpc>
                <a:spcPct val="100000"/>
              </a:lnSpc>
              <a:spcBef>
                <a:spcPts val="0"/>
              </a:spcBef>
              <a:spcAft>
                <a:spcPts val="0"/>
              </a:spcAft>
              <a:buClrTx/>
              <a:buSzTx/>
              <a:buFontTx/>
              <a:buNone/>
              <a:tabLst/>
              <a:defRPr/>
            </a:pPr>
            <a:r>
              <a:rPr lang="en-KR" dirty="0"/>
              <a:t>(Click) However, once App A tries to use the remote memory, interleaving policy is applied. That is, App A does not use the only single memory, but use the entire remote memory.</a:t>
            </a:r>
          </a:p>
          <a:p>
            <a:pPr marL="0" marR="0" lvl="0" indent="0" algn="l" defTabSz="914400" rtl="0" eaLnBrk="1" fontAlgn="auto" latinLnBrk="0" hangingPunct="1">
              <a:lnSpc>
                <a:spcPct val="100000"/>
              </a:lnSpc>
              <a:spcBef>
                <a:spcPts val="0"/>
              </a:spcBef>
              <a:spcAft>
                <a:spcPts val="0"/>
              </a:spcAft>
              <a:buClrTx/>
              <a:buSzTx/>
              <a:buFontTx/>
              <a:buNone/>
              <a:tabLst/>
              <a:defRPr/>
            </a:pPr>
            <a:r>
              <a:rPr lang="en-KR" dirty="0"/>
              <a:t>As applying this policy, it can reduce hotspot problem on App B which is occur</a:t>
            </a:r>
            <a:r>
              <a:rPr lang="en-US" dirty="0"/>
              <a:t>r</a:t>
            </a:r>
            <a:r>
              <a:rPr lang="en-KR" dirty="0"/>
              <a:t>ed in the only default policy and distributes the memory traffic. (Click)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KR" dirty="0"/>
          </a:p>
        </p:txBody>
      </p:sp>
      <p:sp>
        <p:nvSpPr>
          <p:cNvPr id="4" name="Slide Number Placeholder 3"/>
          <p:cNvSpPr>
            <a:spLocks noGrp="1"/>
          </p:cNvSpPr>
          <p:nvPr>
            <p:ph type="sldNum" sz="quarter" idx="5"/>
          </p:nvPr>
        </p:nvSpPr>
        <p:spPr/>
        <p:txBody>
          <a:bodyPr/>
          <a:lstStyle/>
          <a:p>
            <a:fld id="{338DCBBE-ED3A-8F42-B7BB-8A5DEB4EBA1D}" type="slidenum">
              <a:rPr lang="en-KR" smtClean="0"/>
              <a:t>11</a:t>
            </a:fld>
            <a:endParaRPr lang="en-KR"/>
          </a:p>
        </p:txBody>
      </p:sp>
    </p:spTree>
    <p:extLst>
      <p:ext uri="{BB962C8B-B14F-4D97-AF65-F5344CB8AC3E}">
        <p14:creationId xmlns:p14="http://schemas.microsoft.com/office/powerpoint/2010/main" val="3939448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Usage-aware memory placement has a similar way with the hybrid placement. Like the hybrid, at first, all applications follow the default policy which allocates a memory from the local. However, for usage-aware memory, assume that App B and App D allocate more memory than App C. Therefore, the number of allocated pages on DIMM-2 is the least on the system. </a:t>
            </a:r>
          </a:p>
          <a:p>
            <a:endParaRPr lang="en-KR" dirty="0"/>
          </a:p>
          <a:p>
            <a:r>
              <a:rPr lang="en-KR" dirty="0"/>
              <a:t>(Click) At this time, if App A needs more memory and requires it from the remote memory, the kernel allows App A to allocate memory from the idlest node. In other words, the kernel only finds the least usage node across the remote memory. (Click)</a:t>
            </a:r>
          </a:p>
        </p:txBody>
      </p:sp>
      <p:sp>
        <p:nvSpPr>
          <p:cNvPr id="4" name="Slide Number Placeholder 3"/>
          <p:cNvSpPr>
            <a:spLocks noGrp="1"/>
          </p:cNvSpPr>
          <p:nvPr>
            <p:ph type="sldNum" sz="quarter" idx="5"/>
          </p:nvPr>
        </p:nvSpPr>
        <p:spPr/>
        <p:txBody>
          <a:bodyPr/>
          <a:lstStyle/>
          <a:p>
            <a:fld id="{338DCBBE-ED3A-8F42-B7BB-8A5DEB4EBA1D}" type="slidenum">
              <a:rPr lang="en-KR" smtClean="0"/>
              <a:t>12</a:t>
            </a:fld>
            <a:endParaRPr lang="en-KR"/>
          </a:p>
        </p:txBody>
      </p:sp>
    </p:spTree>
    <p:extLst>
      <p:ext uri="{BB962C8B-B14F-4D97-AF65-F5344CB8AC3E}">
        <p14:creationId xmlns:p14="http://schemas.microsoft.com/office/powerpoint/2010/main" val="33523897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To implement the proposed polices, we leverage the kernel data structure to obtain the number of allocated pages and how many free pages are left.</a:t>
            </a:r>
          </a:p>
          <a:p>
            <a:r>
              <a:rPr lang="en-KR" dirty="0"/>
              <a:t>The information is included in two data structures: struct pglist_data, struct zone. The first data structure contains the information of a single node. The second data structure represents multiple zones in each node.</a:t>
            </a:r>
          </a:p>
          <a:p>
            <a:endParaRPr lang="en-KR" dirty="0"/>
          </a:p>
          <a:p>
            <a:r>
              <a:rPr lang="en-KR" dirty="0"/>
              <a:t>With these data structures, our system counts how many pages are left or allocated in each node. And then, based on the stats, the system applies our proposed policies.</a:t>
            </a:r>
          </a:p>
          <a:p>
            <a:endParaRPr lang="en-KR" dirty="0"/>
          </a:p>
          <a:p>
            <a:r>
              <a:rPr lang="en-KR" dirty="0"/>
              <a:t>These numbers include active and inactive pages no mattter a page is anonymous or file. (Click)</a:t>
            </a:r>
          </a:p>
        </p:txBody>
      </p:sp>
      <p:sp>
        <p:nvSpPr>
          <p:cNvPr id="4" name="Slide Number Placeholder 3"/>
          <p:cNvSpPr>
            <a:spLocks noGrp="1"/>
          </p:cNvSpPr>
          <p:nvPr>
            <p:ph type="sldNum" sz="quarter" idx="5"/>
          </p:nvPr>
        </p:nvSpPr>
        <p:spPr/>
        <p:txBody>
          <a:bodyPr/>
          <a:lstStyle/>
          <a:p>
            <a:fld id="{338DCBBE-ED3A-8F42-B7BB-8A5DEB4EBA1D}" type="slidenum">
              <a:rPr lang="en-KR" smtClean="0"/>
              <a:t>13</a:t>
            </a:fld>
            <a:endParaRPr lang="en-KR"/>
          </a:p>
        </p:txBody>
      </p:sp>
    </p:spTree>
    <p:extLst>
      <p:ext uri="{BB962C8B-B14F-4D97-AF65-F5344CB8AC3E}">
        <p14:creationId xmlns:p14="http://schemas.microsoft.com/office/powerpoint/2010/main" val="3616561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To evaluate our design, we set up our system environment. Our system has 4 sockets and each socket has a single Intel processor.</a:t>
            </a:r>
          </a:p>
          <a:p>
            <a:r>
              <a:rPr lang="en-KR" dirty="0"/>
              <a:t>Each socket has 16GB DRAM memory so the total memory capacity is 64GB.</a:t>
            </a:r>
          </a:p>
          <a:p>
            <a:r>
              <a:rPr lang="en-KR" dirty="0"/>
              <a:t>We use Linux kernel version 5.3 and this default options are applied.</a:t>
            </a:r>
          </a:p>
          <a:p>
            <a:endParaRPr lang="en-KR" dirty="0"/>
          </a:p>
          <a:p>
            <a:r>
              <a:rPr lang="en-KR" dirty="0"/>
              <a:t>For benchmark, we mainly use memory intensive workloads. We evaluate various workloads from SPECCPU 2017, but in this talk we show only three workloads.</a:t>
            </a:r>
          </a:p>
          <a:p>
            <a:r>
              <a:rPr lang="en-KR" dirty="0"/>
              <a:t>For NAS benchmark, we use MG and for HPC Challenge, we use GUPS, and lastly liblinear. (Click)</a:t>
            </a:r>
          </a:p>
        </p:txBody>
      </p:sp>
      <p:sp>
        <p:nvSpPr>
          <p:cNvPr id="4" name="Slide Number Placeholder 3"/>
          <p:cNvSpPr>
            <a:spLocks noGrp="1"/>
          </p:cNvSpPr>
          <p:nvPr>
            <p:ph type="sldNum" sz="quarter" idx="5"/>
          </p:nvPr>
        </p:nvSpPr>
        <p:spPr/>
        <p:txBody>
          <a:bodyPr/>
          <a:lstStyle/>
          <a:p>
            <a:fld id="{338DCBBE-ED3A-8F42-B7BB-8A5DEB4EBA1D}" type="slidenum">
              <a:rPr lang="en-KR" smtClean="0"/>
              <a:t>14</a:t>
            </a:fld>
            <a:endParaRPr lang="en-KR"/>
          </a:p>
        </p:txBody>
      </p:sp>
    </p:spTree>
    <p:extLst>
      <p:ext uri="{BB962C8B-B14F-4D97-AF65-F5344CB8AC3E}">
        <p14:creationId xmlns:p14="http://schemas.microsoft.com/office/powerpoint/2010/main" val="1713043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For better evaluation, we set a few details on each experiment. </a:t>
            </a:r>
          </a:p>
          <a:p>
            <a:endParaRPr lang="en-KR" dirty="0"/>
          </a:p>
          <a:p>
            <a:pPr marL="228600" indent="-228600">
              <a:buAutoNum type="arabicPeriod"/>
            </a:pPr>
            <a:r>
              <a:rPr lang="en-KR" dirty="0"/>
              <a:t>Applications on CPU-0 usually have the large-memory footprint so it tries to use the remote memory. MG, GUP, and Liblinear are the candidates.</a:t>
            </a:r>
          </a:p>
          <a:p>
            <a:pPr marL="228600" indent="-228600">
              <a:buAutoNum type="arabicPeriod"/>
            </a:pPr>
            <a:r>
              <a:rPr lang="en-US" dirty="0"/>
              <a:t>T</a:t>
            </a:r>
            <a:r>
              <a:rPr lang="en-KR" dirty="0"/>
              <a:t>he rest of applications only use the local memory; In other words, they have a small memory footprint, but memory-intensive workloads.</a:t>
            </a:r>
          </a:p>
          <a:p>
            <a:pPr marL="228600" indent="-228600">
              <a:buAutoNum type="arabicPeriod"/>
            </a:pPr>
            <a:r>
              <a:rPr lang="en-KR" dirty="0"/>
              <a:t>We evaluate various mixed for better evaluation, but in this paper, we only show a few of them. (Click)</a:t>
            </a:r>
          </a:p>
        </p:txBody>
      </p:sp>
      <p:sp>
        <p:nvSpPr>
          <p:cNvPr id="4" name="Slide Number Placeholder 3"/>
          <p:cNvSpPr>
            <a:spLocks noGrp="1"/>
          </p:cNvSpPr>
          <p:nvPr>
            <p:ph type="sldNum" sz="quarter" idx="5"/>
          </p:nvPr>
        </p:nvSpPr>
        <p:spPr/>
        <p:txBody>
          <a:bodyPr/>
          <a:lstStyle/>
          <a:p>
            <a:fld id="{338DCBBE-ED3A-8F42-B7BB-8A5DEB4EBA1D}" type="slidenum">
              <a:rPr lang="en-KR" smtClean="0"/>
              <a:t>15</a:t>
            </a:fld>
            <a:endParaRPr lang="en-KR"/>
          </a:p>
        </p:txBody>
      </p:sp>
    </p:spTree>
    <p:extLst>
      <p:ext uri="{BB962C8B-B14F-4D97-AF65-F5344CB8AC3E}">
        <p14:creationId xmlns:p14="http://schemas.microsoft.com/office/powerpoint/2010/main" val="1301554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In the following graph, there are 4 targets to compare each performance. First-touch / Page-interleave / Hybrid / usage-aware.</a:t>
            </a:r>
          </a:p>
          <a:p>
            <a:r>
              <a:rPr lang="en-KR" dirty="0"/>
              <a:t>For page-interleave, a process uses all memory node one by one every time a page is allocated. (Click)</a:t>
            </a:r>
          </a:p>
        </p:txBody>
      </p:sp>
      <p:sp>
        <p:nvSpPr>
          <p:cNvPr id="4" name="Slide Number Placeholder 3"/>
          <p:cNvSpPr>
            <a:spLocks noGrp="1"/>
          </p:cNvSpPr>
          <p:nvPr>
            <p:ph type="sldNum" sz="quarter" idx="5"/>
          </p:nvPr>
        </p:nvSpPr>
        <p:spPr/>
        <p:txBody>
          <a:bodyPr/>
          <a:lstStyle/>
          <a:p>
            <a:fld id="{338DCBBE-ED3A-8F42-B7BB-8A5DEB4EBA1D}" type="slidenum">
              <a:rPr lang="en-KR" smtClean="0"/>
              <a:t>16</a:t>
            </a:fld>
            <a:endParaRPr lang="en-KR"/>
          </a:p>
        </p:txBody>
      </p:sp>
    </p:spTree>
    <p:extLst>
      <p:ext uri="{BB962C8B-B14F-4D97-AF65-F5344CB8AC3E}">
        <p14:creationId xmlns:p14="http://schemas.microsoft.com/office/powerpoint/2010/main" val="1213323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The graph is the result of performance evaluation. X axis indicates each node and application names. Y axis is normalized execution time so the lower is better. We use harmonic mean because we would like to see how much the system shows the overall improvement.</a:t>
            </a:r>
          </a:p>
          <a:p>
            <a:endParaRPr lang="en-KR" dirty="0"/>
          </a:p>
          <a:p>
            <a:r>
              <a:rPr lang="en-KR" dirty="0"/>
              <a:t>First, all policies we proposed are showing improved performance over the default policy. (Click)</a:t>
            </a:r>
          </a:p>
          <a:p>
            <a:r>
              <a:rPr lang="en-KR" dirty="0"/>
              <a:t>Second, For page-interleave, the main reason is that the performance of memory intensive workloads, such as mg / liblinear, are bounded memory bandwidth. In other words, if they use the multiple remote memory node, they use the broaden memory bandwidth. (Click)</a:t>
            </a:r>
          </a:p>
          <a:p>
            <a:r>
              <a:rPr lang="en-KR" dirty="0"/>
              <a:t> </a:t>
            </a:r>
          </a:p>
          <a:p>
            <a:r>
              <a:rPr lang="en-KR" dirty="0"/>
              <a:t>However, page-interleave impairs cam4 so the overall performance is dropped. (Click)</a:t>
            </a:r>
          </a:p>
        </p:txBody>
      </p:sp>
      <p:sp>
        <p:nvSpPr>
          <p:cNvPr id="4" name="Slide Number Placeholder 3"/>
          <p:cNvSpPr>
            <a:spLocks noGrp="1"/>
          </p:cNvSpPr>
          <p:nvPr>
            <p:ph type="sldNum" sz="quarter" idx="5"/>
          </p:nvPr>
        </p:nvSpPr>
        <p:spPr/>
        <p:txBody>
          <a:bodyPr/>
          <a:lstStyle/>
          <a:p>
            <a:fld id="{338DCBBE-ED3A-8F42-B7BB-8A5DEB4EBA1D}" type="slidenum">
              <a:rPr lang="en-KR" smtClean="0"/>
              <a:t>17</a:t>
            </a:fld>
            <a:endParaRPr lang="en-KR"/>
          </a:p>
        </p:txBody>
      </p:sp>
    </p:spTree>
    <p:extLst>
      <p:ext uri="{BB962C8B-B14F-4D97-AF65-F5344CB8AC3E}">
        <p14:creationId xmlns:p14="http://schemas.microsoft.com/office/powerpoint/2010/main" val="5587159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On the other hand, unlike page-interleave, our proposed design does not hurt cam4 so much and at the same time, they acquires the overall improved performance. (Click)</a:t>
            </a:r>
          </a:p>
        </p:txBody>
      </p:sp>
      <p:sp>
        <p:nvSpPr>
          <p:cNvPr id="4" name="Slide Number Placeholder 3"/>
          <p:cNvSpPr>
            <a:spLocks noGrp="1"/>
          </p:cNvSpPr>
          <p:nvPr>
            <p:ph type="sldNum" sz="quarter" idx="5"/>
          </p:nvPr>
        </p:nvSpPr>
        <p:spPr/>
        <p:txBody>
          <a:bodyPr/>
          <a:lstStyle/>
          <a:p>
            <a:fld id="{338DCBBE-ED3A-8F42-B7BB-8A5DEB4EBA1D}" type="slidenum">
              <a:rPr lang="en-KR" smtClean="0"/>
              <a:t>18</a:t>
            </a:fld>
            <a:endParaRPr lang="en-KR"/>
          </a:p>
        </p:txBody>
      </p:sp>
    </p:spTree>
    <p:extLst>
      <p:ext uri="{BB962C8B-B14F-4D97-AF65-F5344CB8AC3E}">
        <p14:creationId xmlns:p14="http://schemas.microsoft.com/office/powerpoint/2010/main" val="3691622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The previous figures can be explained by the allocation graph. The graph tells allocation status of each application upon time. First, the default policy causes hot-spot problem so mcf application is having trouble with making performance. Second, page-interleave intereferes with each other and it eventually hurts some of workloads’ performance. However, for our policy, we minimize hot-spot problme and interference. Finally, we achieve better performance. (Click)</a:t>
            </a:r>
          </a:p>
        </p:txBody>
      </p:sp>
      <p:sp>
        <p:nvSpPr>
          <p:cNvPr id="4" name="Slide Number Placeholder 3"/>
          <p:cNvSpPr>
            <a:spLocks noGrp="1"/>
          </p:cNvSpPr>
          <p:nvPr>
            <p:ph type="sldNum" sz="quarter" idx="5"/>
          </p:nvPr>
        </p:nvSpPr>
        <p:spPr/>
        <p:txBody>
          <a:bodyPr/>
          <a:lstStyle/>
          <a:p>
            <a:fld id="{338DCBBE-ED3A-8F42-B7BB-8A5DEB4EBA1D}" type="slidenum">
              <a:rPr lang="en-KR" smtClean="0"/>
              <a:t>19</a:t>
            </a:fld>
            <a:endParaRPr lang="en-KR"/>
          </a:p>
        </p:txBody>
      </p:sp>
    </p:spTree>
    <p:extLst>
      <p:ext uri="{BB962C8B-B14F-4D97-AF65-F5344CB8AC3E}">
        <p14:creationId xmlns:p14="http://schemas.microsoft.com/office/powerpoint/2010/main" val="2634949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For discussion, we are facing few issues for our design.</a:t>
            </a:r>
          </a:p>
          <a:p>
            <a:endParaRPr lang="en-KR" dirty="0"/>
          </a:p>
          <a:p>
            <a:r>
              <a:rPr lang="en-KR" dirty="0"/>
              <a:t>First, basically Linux tries to localize data. However, since our design increases remote accesses, the scheduler is having difficulty to minimize these accesses and try to find the best schedule. We are investigating this issue.</a:t>
            </a:r>
          </a:p>
          <a:p>
            <a:endParaRPr lang="en-KR" dirty="0"/>
          </a:p>
          <a:p>
            <a:r>
              <a:rPr lang="en-KR" dirty="0"/>
              <a:t>Second, in this work, our system consists of a single numa node in a single numa group. However, for other topologies such as AMD processors, the different number of NUMA domain and distance exists. Currently, our solution for this is to allocate closest neighbor group and then allocate faraway group. However, for generalization and the detail, we left it as our future work. (Click)</a:t>
            </a:r>
          </a:p>
        </p:txBody>
      </p:sp>
      <p:sp>
        <p:nvSpPr>
          <p:cNvPr id="4" name="Slide Number Placeholder 3"/>
          <p:cNvSpPr>
            <a:spLocks noGrp="1"/>
          </p:cNvSpPr>
          <p:nvPr>
            <p:ph type="sldNum" sz="quarter" idx="5"/>
          </p:nvPr>
        </p:nvSpPr>
        <p:spPr/>
        <p:txBody>
          <a:bodyPr/>
          <a:lstStyle/>
          <a:p>
            <a:fld id="{338DCBBE-ED3A-8F42-B7BB-8A5DEB4EBA1D}" type="slidenum">
              <a:rPr lang="en-KR" smtClean="0"/>
              <a:t>20</a:t>
            </a:fld>
            <a:endParaRPr lang="en-KR"/>
          </a:p>
        </p:txBody>
      </p:sp>
    </p:spTree>
    <p:extLst>
      <p:ext uri="{BB962C8B-B14F-4D97-AF65-F5344CB8AC3E}">
        <p14:creationId xmlns:p14="http://schemas.microsoft.com/office/powerpoint/2010/main" val="8027243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KR" dirty="0"/>
              <a:t>To wrap up,</a:t>
            </a:r>
          </a:p>
          <a:p>
            <a:endParaRPr lang="en-KR" dirty="0"/>
          </a:p>
          <a:p>
            <a:r>
              <a:rPr lang="en-KR" dirty="0"/>
              <a:t>In this work, we show how to exploit path diverstiy on multi-chp systems by leveraging interconnet technology.</a:t>
            </a:r>
          </a:p>
          <a:p>
            <a:endParaRPr lang="en-KR" dirty="0"/>
          </a:p>
          <a:p>
            <a:r>
              <a:rPr lang="en-US" dirty="0"/>
              <a:t>We design and show simple memory placement for multiple applications.</a:t>
            </a:r>
          </a:p>
          <a:p>
            <a:endParaRPr lang="en-US" dirty="0"/>
          </a:p>
          <a:p>
            <a:r>
              <a:rPr lang="en-US" dirty="0"/>
              <a:t>Lastly, we minimize hot-spot issue, memory interference and finally achieve the overall better performance.</a:t>
            </a:r>
          </a:p>
          <a:p>
            <a:endParaRPr lang="en-US" dirty="0"/>
          </a:p>
          <a:p>
            <a:r>
              <a:rPr lang="en-US" dirty="0"/>
              <a:t>Thank you for listening. Please ask any question and I would be happy to answer.</a:t>
            </a:r>
          </a:p>
          <a:p>
            <a:endParaRPr lang="en-KR" dirty="0"/>
          </a:p>
        </p:txBody>
      </p:sp>
      <p:sp>
        <p:nvSpPr>
          <p:cNvPr id="4" name="Slide Number Placeholder 3"/>
          <p:cNvSpPr>
            <a:spLocks noGrp="1"/>
          </p:cNvSpPr>
          <p:nvPr>
            <p:ph type="sldNum" sz="quarter" idx="5"/>
          </p:nvPr>
        </p:nvSpPr>
        <p:spPr/>
        <p:txBody>
          <a:bodyPr/>
          <a:lstStyle/>
          <a:p>
            <a:fld id="{338DCBBE-ED3A-8F42-B7BB-8A5DEB4EBA1D}" type="slidenum">
              <a:rPr lang="en-KR" smtClean="0"/>
              <a:t>21</a:t>
            </a:fld>
            <a:endParaRPr lang="en-KR"/>
          </a:p>
        </p:txBody>
      </p:sp>
    </p:spTree>
    <p:extLst>
      <p:ext uri="{BB962C8B-B14F-4D97-AF65-F5344CB8AC3E}">
        <p14:creationId xmlns:p14="http://schemas.microsoft.com/office/powerpoint/2010/main" val="223976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48FF9-F758-CF4C-AD53-35B7F9E10910}"/>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KR" dirty="0"/>
          </a:p>
        </p:txBody>
      </p:sp>
      <p:sp>
        <p:nvSpPr>
          <p:cNvPr id="3" name="Subtitle 2">
            <a:extLst>
              <a:ext uri="{FF2B5EF4-FFF2-40B4-BE49-F238E27FC236}">
                <a16:creationId xmlns:a16="http://schemas.microsoft.com/office/drawing/2014/main" id="{28484AC1-884F-F84C-B7EA-58576E73E9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R"/>
          </a:p>
        </p:txBody>
      </p:sp>
      <p:sp>
        <p:nvSpPr>
          <p:cNvPr id="4" name="Date Placeholder 3">
            <a:extLst>
              <a:ext uri="{FF2B5EF4-FFF2-40B4-BE49-F238E27FC236}">
                <a16:creationId xmlns:a16="http://schemas.microsoft.com/office/drawing/2014/main" id="{3EE61D1B-2083-D440-B892-318440C8C5A9}"/>
              </a:ext>
            </a:extLst>
          </p:cNvPr>
          <p:cNvSpPr>
            <a:spLocks noGrp="1"/>
          </p:cNvSpPr>
          <p:nvPr>
            <p:ph type="dt" sz="half" idx="10"/>
          </p:nvPr>
        </p:nvSpPr>
        <p:spPr/>
        <p:txBody>
          <a:bodyPr/>
          <a:lstStyle/>
          <a:p>
            <a:fld id="{4E6231D7-09EC-DE4A-9104-5B07140423A5}" type="datetimeFigureOut">
              <a:rPr lang="en-KR" smtClean="0"/>
              <a:t>9/6/21</a:t>
            </a:fld>
            <a:endParaRPr lang="en-KR"/>
          </a:p>
        </p:txBody>
      </p:sp>
      <p:sp>
        <p:nvSpPr>
          <p:cNvPr id="5" name="Footer Placeholder 4">
            <a:extLst>
              <a:ext uri="{FF2B5EF4-FFF2-40B4-BE49-F238E27FC236}">
                <a16:creationId xmlns:a16="http://schemas.microsoft.com/office/drawing/2014/main" id="{6FFF7790-FADA-254B-9DC1-B66E413EC1D2}"/>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320F92A7-3AE9-B84E-B4F7-9E05F68FD329}"/>
              </a:ext>
            </a:extLst>
          </p:cNvPr>
          <p:cNvSpPr>
            <a:spLocks noGrp="1"/>
          </p:cNvSpPr>
          <p:nvPr>
            <p:ph type="sldNum" sz="quarter" idx="12"/>
          </p:nvPr>
        </p:nvSpPr>
        <p:spPr/>
        <p:txBody>
          <a:bodyPr/>
          <a:lstStyle/>
          <a:p>
            <a:fld id="{21194009-D8CB-E04A-90C5-B8433A59C8B7}" type="slidenum">
              <a:rPr lang="en-KR" smtClean="0"/>
              <a:t>‹#›</a:t>
            </a:fld>
            <a:endParaRPr lang="en-KR"/>
          </a:p>
        </p:txBody>
      </p:sp>
    </p:spTree>
    <p:extLst>
      <p:ext uri="{BB962C8B-B14F-4D97-AF65-F5344CB8AC3E}">
        <p14:creationId xmlns:p14="http://schemas.microsoft.com/office/powerpoint/2010/main" val="1527062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51ECA-CA41-B440-AD23-2D5328664081}"/>
              </a:ext>
            </a:extLst>
          </p:cNvPr>
          <p:cNvSpPr>
            <a:spLocks noGrp="1"/>
          </p:cNvSpPr>
          <p:nvPr>
            <p:ph type="title"/>
          </p:nvPr>
        </p:nvSpPr>
        <p:spPr/>
        <p:txBody>
          <a:bodyPr/>
          <a:lstStyle>
            <a:lvl1pPr>
              <a:defRPr b="1" baseline="0">
                <a:solidFill>
                  <a:srgbClr val="2B0071"/>
                </a:solidFill>
              </a:defRPr>
            </a:lvl1pPr>
          </a:lstStyle>
          <a:p>
            <a:r>
              <a:rPr lang="en-US" dirty="0"/>
              <a:t>Click to edit Master title style</a:t>
            </a:r>
            <a:endParaRPr lang="en-KR" dirty="0"/>
          </a:p>
        </p:txBody>
      </p:sp>
      <p:sp>
        <p:nvSpPr>
          <p:cNvPr id="3" name="Content Placeholder 2">
            <a:extLst>
              <a:ext uri="{FF2B5EF4-FFF2-40B4-BE49-F238E27FC236}">
                <a16:creationId xmlns:a16="http://schemas.microsoft.com/office/drawing/2014/main" id="{E740B210-372A-6B43-9423-80D4669456EA}"/>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KR" dirty="0"/>
          </a:p>
        </p:txBody>
      </p:sp>
      <p:sp>
        <p:nvSpPr>
          <p:cNvPr id="4" name="Date Placeholder 3">
            <a:extLst>
              <a:ext uri="{FF2B5EF4-FFF2-40B4-BE49-F238E27FC236}">
                <a16:creationId xmlns:a16="http://schemas.microsoft.com/office/drawing/2014/main" id="{A3E62E42-A456-2F4B-BFB3-35E6B1BB54C1}"/>
              </a:ext>
            </a:extLst>
          </p:cNvPr>
          <p:cNvSpPr>
            <a:spLocks noGrp="1"/>
          </p:cNvSpPr>
          <p:nvPr>
            <p:ph type="dt" sz="half" idx="10"/>
          </p:nvPr>
        </p:nvSpPr>
        <p:spPr/>
        <p:txBody>
          <a:bodyPr/>
          <a:lstStyle/>
          <a:p>
            <a:fld id="{4E6231D7-09EC-DE4A-9104-5B07140423A5}" type="datetimeFigureOut">
              <a:rPr lang="en-KR" smtClean="0"/>
              <a:t>9/6/21</a:t>
            </a:fld>
            <a:endParaRPr lang="en-KR"/>
          </a:p>
        </p:txBody>
      </p:sp>
      <p:sp>
        <p:nvSpPr>
          <p:cNvPr id="5" name="Footer Placeholder 4">
            <a:extLst>
              <a:ext uri="{FF2B5EF4-FFF2-40B4-BE49-F238E27FC236}">
                <a16:creationId xmlns:a16="http://schemas.microsoft.com/office/drawing/2014/main" id="{DF81874F-D56F-5341-BE7D-ACDB512A5450}"/>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1F770D4-2283-DE41-A2C1-C8AD33E839F7}"/>
              </a:ext>
            </a:extLst>
          </p:cNvPr>
          <p:cNvSpPr>
            <a:spLocks noGrp="1"/>
          </p:cNvSpPr>
          <p:nvPr>
            <p:ph type="sldNum" sz="quarter" idx="12"/>
          </p:nvPr>
        </p:nvSpPr>
        <p:spPr/>
        <p:txBody>
          <a:bodyPr/>
          <a:lstStyle/>
          <a:p>
            <a:fld id="{21194009-D8CB-E04A-90C5-B8433A59C8B7}" type="slidenum">
              <a:rPr lang="en-KR" smtClean="0"/>
              <a:t>‹#›</a:t>
            </a:fld>
            <a:endParaRPr lang="en-KR"/>
          </a:p>
        </p:txBody>
      </p:sp>
    </p:spTree>
    <p:extLst>
      <p:ext uri="{BB962C8B-B14F-4D97-AF65-F5344CB8AC3E}">
        <p14:creationId xmlns:p14="http://schemas.microsoft.com/office/powerpoint/2010/main" val="514645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3002E-D080-7C48-8534-A5BDA3C393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R"/>
          </a:p>
        </p:txBody>
      </p:sp>
      <p:sp>
        <p:nvSpPr>
          <p:cNvPr id="3" name="Text Placeholder 2">
            <a:extLst>
              <a:ext uri="{FF2B5EF4-FFF2-40B4-BE49-F238E27FC236}">
                <a16:creationId xmlns:a16="http://schemas.microsoft.com/office/drawing/2014/main" id="{1565E992-B2DD-7141-BD6D-1EB286BCC5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1B3DDB-0E27-084B-A30D-344CB78D2803}"/>
              </a:ext>
            </a:extLst>
          </p:cNvPr>
          <p:cNvSpPr>
            <a:spLocks noGrp="1"/>
          </p:cNvSpPr>
          <p:nvPr>
            <p:ph type="dt" sz="half" idx="10"/>
          </p:nvPr>
        </p:nvSpPr>
        <p:spPr/>
        <p:txBody>
          <a:bodyPr/>
          <a:lstStyle/>
          <a:p>
            <a:fld id="{4E6231D7-09EC-DE4A-9104-5B07140423A5}" type="datetimeFigureOut">
              <a:rPr lang="en-KR" smtClean="0"/>
              <a:t>9/6/21</a:t>
            </a:fld>
            <a:endParaRPr lang="en-KR"/>
          </a:p>
        </p:txBody>
      </p:sp>
      <p:sp>
        <p:nvSpPr>
          <p:cNvPr id="5" name="Footer Placeholder 4">
            <a:extLst>
              <a:ext uri="{FF2B5EF4-FFF2-40B4-BE49-F238E27FC236}">
                <a16:creationId xmlns:a16="http://schemas.microsoft.com/office/drawing/2014/main" id="{8A7198E0-9985-634D-9E7D-4199663D8A12}"/>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D94A4E5-5F27-FC46-9DA4-3D1E398B7A52}"/>
              </a:ext>
            </a:extLst>
          </p:cNvPr>
          <p:cNvSpPr>
            <a:spLocks noGrp="1"/>
          </p:cNvSpPr>
          <p:nvPr>
            <p:ph type="sldNum" sz="quarter" idx="12"/>
          </p:nvPr>
        </p:nvSpPr>
        <p:spPr/>
        <p:txBody>
          <a:bodyPr/>
          <a:lstStyle/>
          <a:p>
            <a:fld id="{21194009-D8CB-E04A-90C5-B8433A59C8B7}" type="slidenum">
              <a:rPr lang="en-KR" smtClean="0"/>
              <a:t>‹#›</a:t>
            </a:fld>
            <a:endParaRPr lang="en-KR"/>
          </a:p>
        </p:txBody>
      </p:sp>
    </p:spTree>
    <p:extLst>
      <p:ext uri="{BB962C8B-B14F-4D97-AF65-F5344CB8AC3E}">
        <p14:creationId xmlns:p14="http://schemas.microsoft.com/office/powerpoint/2010/main" val="1961007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BF8D0-3E85-644B-8FFA-59B7E13C174E}"/>
              </a:ext>
            </a:extLst>
          </p:cNvPr>
          <p:cNvSpPr>
            <a:spLocks noGrp="1"/>
          </p:cNvSpPr>
          <p:nvPr>
            <p:ph type="title"/>
          </p:nvPr>
        </p:nvSpPr>
        <p:spPr/>
        <p:txBody>
          <a:bodyPr/>
          <a:lstStyle/>
          <a:p>
            <a:r>
              <a:rPr lang="en-US"/>
              <a:t>Click to edit Master title style</a:t>
            </a:r>
            <a:endParaRPr lang="en-KR"/>
          </a:p>
        </p:txBody>
      </p:sp>
      <p:sp>
        <p:nvSpPr>
          <p:cNvPr id="3" name="Content Placeholder 2">
            <a:extLst>
              <a:ext uri="{FF2B5EF4-FFF2-40B4-BE49-F238E27FC236}">
                <a16:creationId xmlns:a16="http://schemas.microsoft.com/office/drawing/2014/main" id="{3277B130-8686-7F43-B89C-5697C19DD2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Content Placeholder 3">
            <a:extLst>
              <a:ext uri="{FF2B5EF4-FFF2-40B4-BE49-F238E27FC236}">
                <a16:creationId xmlns:a16="http://schemas.microsoft.com/office/drawing/2014/main" id="{704FEDE7-2243-7143-A0B8-531B99382B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Date Placeholder 4">
            <a:extLst>
              <a:ext uri="{FF2B5EF4-FFF2-40B4-BE49-F238E27FC236}">
                <a16:creationId xmlns:a16="http://schemas.microsoft.com/office/drawing/2014/main" id="{04D7CC83-8E75-E64D-A7CC-CFD1E1A75B01}"/>
              </a:ext>
            </a:extLst>
          </p:cNvPr>
          <p:cNvSpPr>
            <a:spLocks noGrp="1"/>
          </p:cNvSpPr>
          <p:nvPr>
            <p:ph type="dt" sz="half" idx="10"/>
          </p:nvPr>
        </p:nvSpPr>
        <p:spPr/>
        <p:txBody>
          <a:bodyPr/>
          <a:lstStyle/>
          <a:p>
            <a:fld id="{4E6231D7-09EC-DE4A-9104-5B07140423A5}" type="datetimeFigureOut">
              <a:rPr lang="en-KR" smtClean="0"/>
              <a:t>9/6/21</a:t>
            </a:fld>
            <a:endParaRPr lang="en-KR"/>
          </a:p>
        </p:txBody>
      </p:sp>
      <p:sp>
        <p:nvSpPr>
          <p:cNvPr id="6" name="Footer Placeholder 5">
            <a:extLst>
              <a:ext uri="{FF2B5EF4-FFF2-40B4-BE49-F238E27FC236}">
                <a16:creationId xmlns:a16="http://schemas.microsoft.com/office/drawing/2014/main" id="{23DB6112-7FFE-6A45-A45C-287D739B20CE}"/>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089E4319-0F42-BB48-BD36-D0886C6EB43B}"/>
              </a:ext>
            </a:extLst>
          </p:cNvPr>
          <p:cNvSpPr>
            <a:spLocks noGrp="1"/>
          </p:cNvSpPr>
          <p:nvPr>
            <p:ph type="sldNum" sz="quarter" idx="12"/>
          </p:nvPr>
        </p:nvSpPr>
        <p:spPr/>
        <p:txBody>
          <a:bodyPr/>
          <a:lstStyle/>
          <a:p>
            <a:fld id="{21194009-D8CB-E04A-90C5-B8433A59C8B7}" type="slidenum">
              <a:rPr lang="en-KR" smtClean="0"/>
              <a:t>‹#›</a:t>
            </a:fld>
            <a:endParaRPr lang="en-KR"/>
          </a:p>
        </p:txBody>
      </p:sp>
    </p:spTree>
    <p:extLst>
      <p:ext uri="{BB962C8B-B14F-4D97-AF65-F5344CB8AC3E}">
        <p14:creationId xmlns:p14="http://schemas.microsoft.com/office/powerpoint/2010/main" val="3002396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8FF25-3495-7A4E-9F2C-212908E07ED2}"/>
              </a:ext>
            </a:extLst>
          </p:cNvPr>
          <p:cNvSpPr>
            <a:spLocks noGrp="1"/>
          </p:cNvSpPr>
          <p:nvPr>
            <p:ph type="title"/>
          </p:nvPr>
        </p:nvSpPr>
        <p:spPr>
          <a:xfrm>
            <a:off x="839788" y="365125"/>
            <a:ext cx="10515600" cy="1325563"/>
          </a:xfrm>
        </p:spPr>
        <p:txBody>
          <a:bodyPr/>
          <a:lstStyle/>
          <a:p>
            <a:r>
              <a:rPr lang="en-US"/>
              <a:t>Click to edit Master title style</a:t>
            </a:r>
            <a:endParaRPr lang="en-KR"/>
          </a:p>
        </p:txBody>
      </p:sp>
      <p:sp>
        <p:nvSpPr>
          <p:cNvPr id="3" name="Text Placeholder 2">
            <a:extLst>
              <a:ext uri="{FF2B5EF4-FFF2-40B4-BE49-F238E27FC236}">
                <a16:creationId xmlns:a16="http://schemas.microsoft.com/office/drawing/2014/main" id="{C3CEF193-4BE5-9142-8419-B49CFF1860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ADE2B9-CDF6-404D-BD21-B27650D849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Text Placeholder 4">
            <a:extLst>
              <a:ext uri="{FF2B5EF4-FFF2-40B4-BE49-F238E27FC236}">
                <a16:creationId xmlns:a16="http://schemas.microsoft.com/office/drawing/2014/main" id="{CDFD82F4-32A5-C640-86D7-B36838A2B0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A6527D-6CDE-DA4A-8B3C-CFD39FC14D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7" name="Date Placeholder 6">
            <a:extLst>
              <a:ext uri="{FF2B5EF4-FFF2-40B4-BE49-F238E27FC236}">
                <a16:creationId xmlns:a16="http://schemas.microsoft.com/office/drawing/2014/main" id="{D9DB0F47-9483-304F-B482-5535EB543F47}"/>
              </a:ext>
            </a:extLst>
          </p:cNvPr>
          <p:cNvSpPr>
            <a:spLocks noGrp="1"/>
          </p:cNvSpPr>
          <p:nvPr>
            <p:ph type="dt" sz="half" idx="10"/>
          </p:nvPr>
        </p:nvSpPr>
        <p:spPr/>
        <p:txBody>
          <a:bodyPr/>
          <a:lstStyle/>
          <a:p>
            <a:fld id="{4E6231D7-09EC-DE4A-9104-5B07140423A5}" type="datetimeFigureOut">
              <a:rPr lang="en-KR" smtClean="0"/>
              <a:t>9/6/21</a:t>
            </a:fld>
            <a:endParaRPr lang="en-KR"/>
          </a:p>
        </p:txBody>
      </p:sp>
      <p:sp>
        <p:nvSpPr>
          <p:cNvPr id="8" name="Footer Placeholder 7">
            <a:extLst>
              <a:ext uri="{FF2B5EF4-FFF2-40B4-BE49-F238E27FC236}">
                <a16:creationId xmlns:a16="http://schemas.microsoft.com/office/drawing/2014/main" id="{C60382DE-948A-464C-985D-58F138CF7817}"/>
              </a:ext>
            </a:extLst>
          </p:cNvPr>
          <p:cNvSpPr>
            <a:spLocks noGrp="1"/>
          </p:cNvSpPr>
          <p:nvPr>
            <p:ph type="ftr" sz="quarter" idx="11"/>
          </p:nvPr>
        </p:nvSpPr>
        <p:spPr/>
        <p:txBody>
          <a:bodyPr/>
          <a:lstStyle/>
          <a:p>
            <a:endParaRPr lang="en-KR"/>
          </a:p>
        </p:txBody>
      </p:sp>
      <p:sp>
        <p:nvSpPr>
          <p:cNvPr id="9" name="Slide Number Placeholder 8">
            <a:extLst>
              <a:ext uri="{FF2B5EF4-FFF2-40B4-BE49-F238E27FC236}">
                <a16:creationId xmlns:a16="http://schemas.microsoft.com/office/drawing/2014/main" id="{97C9AA98-B8D9-BC46-8975-4CB9C019083B}"/>
              </a:ext>
            </a:extLst>
          </p:cNvPr>
          <p:cNvSpPr>
            <a:spLocks noGrp="1"/>
          </p:cNvSpPr>
          <p:nvPr>
            <p:ph type="sldNum" sz="quarter" idx="12"/>
          </p:nvPr>
        </p:nvSpPr>
        <p:spPr/>
        <p:txBody>
          <a:bodyPr/>
          <a:lstStyle/>
          <a:p>
            <a:fld id="{21194009-D8CB-E04A-90C5-B8433A59C8B7}" type="slidenum">
              <a:rPr lang="en-KR" smtClean="0"/>
              <a:t>‹#›</a:t>
            </a:fld>
            <a:endParaRPr lang="en-KR"/>
          </a:p>
        </p:txBody>
      </p:sp>
    </p:spTree>
    <p:extLst>
      <p:ext uri="{BB962C8B-B14F-4D97-AF65-F5344CB8AC3E}">
        <p14:creationId xmlns:p14="http://schemas.microsoft.com/office/powerpoint/2010/main" val="47815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D22D8-A783-1E4A-BBFC-1E87FD248FF0}"/>
              </a:ext>
            </a:extLst>
          </p:cNvPr>
          <p:cNvSpPr>
            <a:spLocks noGrp="1"/>
          </p:cNvSpPr>
          <p:nvPr>
            <p:ph type="title"/>
          </p:nvPr>
        </p:nvSpPr>
        <p:spPr/>
        <p:txBody>
          <a:bodyPr/>
          <a:lstStyle/>
          <a:p>
            <a:r>
              <a:rPr lang="en-US"/>
              <a:t>Click to edit Master title style</a:t>
            </a:r>
            <a:endParaRPr lang="en-KR"/>
          </a:p>
        </p:txBody>
      </p:sp>
      <p:sp>
        <p:nvSpPr>
          <p:cNvPr id="3" name="Date Placeholder 2">
            <a:extLst>
              <a:ext uri="{FF2B5EF4-FFF2-40B4-BE49-F238E27FC236}">
                <a16:creationId xmlns:a16="http://schemas.microsoft.com/office/drawing/2014/main" id="{AEE5AEF6-A6CD-C94B-AADB-73EC6D9B15ED}"/>
              </a:ext>
            </a:extLst>
          </p:cNvPr>
          <p:cNvSpPr>
            <a:spLocks noGrp="1"/>
          </p:cNvSpPr>
          <p:nvPr>
            <p:ph type="dt" sz="half" idx="10"/>
          </p:nvPr>
        </p:nvSpPr>
        <p:spPr/>
        <p:txBody>
          <a:bodyPr/>
          <a:lstStyle/>
          <a:p>
            <a:fld id="{4E6231D7-09EC-DE4A-9104-5B07140423A5}" type="datetimeFigureOut">
              <a:rPr lang="en-KR" smtClean="0"/>
              <a:t>9/6/21</a:t>
            </a:fld>
            <a:endParaRPr lang="en-KR"/>
          </a:p>
        </p:txBody>
      </p:sp>
      <p:sp>
        <p:nvSpPr>
          <p:cNvPr id="4" name="Footer Placeholder 3">
            <a:extLst>
              <a:ext uri="{FF2B5EF4-FFF2-40B4-BE49-F238E27FC236}">
                <a16:creationId xmlns:a16="http://schemas.microsoft.com/office/drawing/2014/main" id="{A9B959D3-2755-6A41-A066-D77C2EB72F8D}"/>
              </a:ext>
            </a:extLst>
          </p:cNvPr>
          <p:cNvSpPr>
            <a:spLocks noGrp="1"/>
          </p:cNvSpPr>
          <p:nvPr>
            <p:ph type="ftr" sz="quarter" idx="11"/>
          </p:nvPr>
        </p:nvSpPr>
        <p:spPr/>
        <p:txBody>
          <a:bodyPr/>
          <a:lstStyle/>
          <a:p>
            <a:endParaRPr lang="en-KR"/>
          </a:p>
        </p:txBody>
      </p:sp>
      <p:sp>
        <p:nvSpPr>
          <p:cNvPr id="5" name="Slide Number Placeholder 4">
            <a:extLst>
              <a:ext uri="{FF2B5EF4-FFF2-40B4-BE49-F238E27FC236}">
                <a16:creationId xmlns:a16="http://schemas.microsoft.com/office/drawing/2014/main" id="{8EC6582A-A9C2-4040-936A-79A6117B2C14}"/>
              </a:ext>
            </a:extLst>
          </p:cNvPr>
          <p:cNvSpPr>
            <a:spLocks noGrp="1"/>
          </p:cNvSpPr>
          <p:nvPr>
            <p:ph type="sldNum" sz="quarter" idx="12"/>
          </p:nvPr>
        </p:nvSpPr>
        <p:spPr/>
        <p:txBody>
          <a:bodyPr/>
          <a:lstStyle/>
          <a:p>
            <a:fld id="{21194009-D8CB-E04A-90C5-B8433A59C8B7}" type="slidenum">
              <a:rPr lang="en-KR" smtClean="0"/>
              <a:t>‹#›</a:t>
            </a:fld>
            <a:endParaRPr lang="en-KR"/>
          </a:p>
        </p:txBody>
      </p:sp>
    </p:spTree>
    <p:extLst>
      <p:ext uri="{BB962C8B-B14F-4D97-AF65-F5344CB8AC3E}">
        <p14:creationId xmlns:p14="http://schemas.microsoft.com/office/powerpoint/2010/main" val="1047031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55773D-C7DA-1C43-8159-0AA94B3A67FC}"/>
              </a:ext>
            </a:extLst>
          </p:cNvPr>
          <p:cNvSpPr>
            <a:spLocks noGrp="1"/>
          </p:cNvSpPr>
          <p:nvPr>
            <p:ph type="dt" sz="half" idx="10"/>
          </p:nvPr>
        </p:nvSpPr>
        <p:spPr/>
        <p:txBody>
          <a:bodyPr/>
          <a:lstStyle/>
          <a:p>
            <a:fld id="{4E6231D7-09EC-DE4A-9104-5B07140423A5}" type="datetimeFigureOut">
              <a:rPr lang="en-KR" smtClean="0"/>
              <a:t>9/6/21</a:t>
            </a:fld>
            <a:endParaRPr lang="en-KR"/>
          </a:p>
        </p:txBody>
      </p:sp>
      <p:sp>
        <p:nvSpPr>
          <p:cNvPr id="3" name="Footer Placeholder 2">
            <a:extLst>
              <a:ext uri="{FF2B5EF4-FFF2-40B4-BE49-F238E27FC236}">
                <a16:creationId xmlns:a16="http://schemas.microsoft.com/office/drawing/2014/main" id="{04146E21-6FFC-7D46-B313-C63D03D8ED67}"/>
              </a:ext>
            </a:extLst>
          </p:cNvPr>
          <p:cNvSpPr>
            <a:spLocks noGrp="1"/>
          </p:cNvSpPr>
          <p:nvPr>
            <p:ph type="ftr" sz="quarter" idx="11"/>
          </p:nvPr>
        </p:nvSpPr>
        <p:spPr/>
        <p:txBody>
          <a:bodyPr/>
          <a:lstStyle/>
          <a:p>
            <a:endParaRPr lang="en-KR"/>
          </a:p>
        </p:txBody>
      </p:sp>
      <p:sp>
        <p:nvSpPr>
          <p:cNvPr id="4" name="Slide Number Placeholder 3">
            <a:extLst>
              <a:ext uri="{FF2B5EF4-FFF2-40B4-BE49-F238E27FC236}">
                <a16:creationId xmlns:a16="http://schemas.microsoft.com/office/drawing/2014/main" id="{FD0BA6A2-3F60-8346-BF1B-A12ADF2B6AFD}"/>
              </a:ext>
            </a:extLst>
          </p:cNvPr>
          <p:cNvSpPr>
            <a:spLocks noGrp="1"/>
          </p:cNvSpPr>
          <p:nvPr>
            <p:ph type="sldNum" sz="quarter" idx="12"/>
          </p:nvPr>
        </p:nvSpPr>
        <p:spPr/>
        <p:txBody>
          <a:bodyPr/>
          <a:lstStyle/>
          <a:p>
            <a:fld id="{21194009-D8CB-E04A-90C5-B8433A59C8B7}" type="slidenum">
              <a:rPr lang="en-KR" smtClean="0"/>
              <a:t>‹#›</a:t>
            </a:fld>
            <a:endParaRPr lang="en-KR"/>
          </a:p>
        </p:txBody>
      </p:sp>
    </p:spTree>
    <p:extLst>
      <p:ext uri="{BB962C8B-B14F-4D97-AF65-F5344CB8AC3E}">
        <p14:creationId xmlns:p14="http://schemas.microsoft.com/office/powerpoint/2010/main" val="2706964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D9992-2270-F54B-BEE4-979183B86C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R"/>
          </a:p>
        </p:txBody>
      </p:sp>
      <p:sp>
        <p:nvSpPr>
          <p:cNvPr id="3" name="Content Placeholder 2">
            <a:extLst>
              <a:ext uri="{FF2B5EF4-FFF2-40B4-BE49-F238E27FC236}">
                <a16:creationId xmlns:a16="http://schemas.microsoft.com/office/drawing/2014/main" id="{F8CC0FA7-767B-C248-8E8A-8774297965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Text Placeholder 3">
            <a:extLst>
              <a:ext uri="{FF2B5EF4-FFF2-40B4-BE49-F238E27FC236}">
                <a16:creationId xmlns:a16="http://schemas.microsoft.com/office/drawing/2014/main" id="{6B0A7341-55D1-0A49-9363-801D299CA1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B4617F-7CF7-8A4F-A3B5-8CEAAC95FA91}"/>
              </a:ext>
            </a:extLst>
          </p:cNvPr>
          <p:cNvSpPr>
            <a:spLocks noGrp="1"/>
          </p:cNvSpPr>
          <p:nvPr>
            <p:ph type="dt" sz="half" idx="10"/>
          </p:nvPr>
        </p:nvSpPr>
        <p:spPr/>
        <p:txBody>
          <a:bodyPr/>
          <a:lstStyle/>
          <a:p>
            <a:fld id="{4E6231D7-09EC-DE4A-9104-5B07140423A5}" type="datetimeFigureOut">
              <a:rPr lang="en-KR" smtClean="0"/>
              <a:t>9/6/21</a:t>
            </a:fld>
            <a:endParaRPr lang="en-KR"/>
          </a:p>
        </p:txBody>
      </p:sp>
      <p:sp>
        <p:nvSpPr>
          <p:cNvPr id="6" name="Footer Placeholder 5">
            <a:extLst>
              <a:ext uri="{FF2B5EF4-FFF2-40B4-BE49-F238E27FC236}">
                <a16:creationId xmlns:a16="http://schemas.microsoft.com/office/drawing/2014/main" id="{2420E83C-E5AC-3B47-AA49-C754C3851D84}"/>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4048D8CE-E046-B64A-974C-D3118396937E}"/>
              </a:ext>
            </a:extLst>
          </p:cNvPr>
          <p:cNvSpPr>
            <a:spLocks noGrp="1"/>
          </p:cNvSpPr>
          <p:nvPr>
            <p:ph type="sldNum" sz="quarter" idx="12"/>
          </p:nvPr>
        </p:nvSpPr>
        <p:spPr/>
        <p:txBody>
          <a:bodyPr/>
          <a:lstStyle/>
          <a:p>
            <a:fld id="{21194009-D8CB-E04A-90C5-B8433A59C8B7}" type="slidenum">
              <a:rPr lang="en-KR" smtClean="0"/>
              <a:t>‹#›</a:t>
            </a:fld>
            <a:endParaRPr lang="en-KR"/>
          </a:p>
        </p:txBody>
      </p:sp>
    </p:spTree>
    <p:extLst>
      <p:ext uri="{BB962C8B-B14F-4D97-AF65-F5344CB8AC3E}">
        <p14:creationId xmlns:p14="http://schemas.microsoft.com/office/powerpoint/2010/main" val="1686547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3A45-D1F9-7041-817A-E018E0F724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R"/>
          </a:p>
        </p:txBody>
      </p:sp>
      <p:sp>
        <p:nvSpPr>
          <p:cNvPr id="3" name="Picture Placeholder 2">
            <a:extLst>
              <a:ext uri="{FF2B5EF4-FFF2-40B4-BE49-F238E27FC236}">
                <a16:creationId xmlns:a16="http://schemas.microsoft.com/office/drawing/2014/main" id="{62E3FEE6-6D2F-1B44-87C3-04A8EBEA07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R"/>
          </a:p>
        </p:txBody>
      </p:sp>
      <p:sp>
        <p:nvSpPr>
          <p:cNvPr id="4" name="Text Placeholder 3">
            <a:extLst>
              <a:ext uri="{FF2B5EF4-FFF2-40B4-BE49-F238E27FC236}">
                <a16:creationId xmlns:a16="http://schemas.microsoft.com/office/drawing/2014/main" id="{5B2E35C0-6872-4D44-A06B-5E8BF0D8D7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2A3963-3E48-1C49-9AFA-4076CFAC9C61}"/>
              </a:ext>
            </a:extLst>
          </p:cNvPr>
          <p:cNvSpPr>
            <a:spLocks noGrp="1"/>
          </p:cNvSpPr>
          <p:nvPr>
            <p:ph type="dt" sz="half" idx="10"/>
          </p:nvPr>
        </p:nvSpPr>
        <p:spPr/>
        <p:txBody>
          <a:bodyPr/>
          <a:lstStyle/>
          <a:p>
            <a:fld id="{4E6231D7-09EC-DE4A-9104-5B07140423A5}" type="datetimeFigureOut">
              <a:rPr lang="en-KR" smtClean="0"/>
              <a:t>9/6/21</a:t>
            </a:fld>
            <a:endParaRPr lang="en-KR"/>
          </a:p>
        </p:txBody>
      </p:sp>
      <p:sp>
        <p:nvSpPr>
          <p:cNvPr id="6" name="Footer Placeholder 5">
            <a:extLst>
              <a:ext uri="{FF2B5EF4-FFF2-40B4-BE49-F238E27FC236}">
                <a16:creationId xmlns:a16="http://schemas.microsoft.com/office/drawing/2014/main" id="{FF7A87F4-F631-4143-A203-5AA2A1CE5529}"/>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98C50098-1BCC-164D-8E75-6B811E91F4E4}"/>
              </a:ext>
            </a:extLst>
          </p:cNvPr>
          <p:cNvSpPr>
            <a:spLocks noGrp="1"/>
          </p:cNvSpPr>
          <p:nvPr>
            <p:ph type="sldNum" sz="quarter" idx="12"/>
          </p:nvPr>
        </p:nvSpPr>
        <p:spPr/>
        <p:txBody>
          <a:bodyPr/>
          <a:lstStyle/>
          <a:p>
            <a:fld id="{21194009-D8CB-E04A-90C5-B8433A59C8B7}" type="slidenum">
              <a:rPr lang="en-KR" smtClean="0"/>
              <a:t>‹#›</a:t>
            </a:fld>
            <a:endParaRPr lang="en-KR"/>
          </a:p>
        </p:txBody>
      </p:sp>
    </p:spTree>
    <p:extLst>
      <p:ext uri="{BB962C8B-B14F-4D97-AF65-F5344CB8AC3E}">
        <p14:creationId xmlns:p14="http://schemas.microsoft.com/office/powerpoint/2010/main" val="2737003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A8CDA-5B5F-0B44-91AA-C420052D083F}"/>
              </a:ext>
            </a:extLst>
          </p:cNvPr>
          <p:cNvSpPr>
            <a:spLocks noGrp="1"/>
          </p:cNvSpPr>
          <p:nvPr>
            <p:ph type="title"/>
          </p:nvPr>
        </p:nvSpPr>
        <p:spPr/>
        <p:txBody>
          <a:bodyPr/>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09BA5626-1D45-7E4C-A634-DA1745F67D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6EDD57F5-0CD2-7D40-8A16-0C86A036DEA2}"/>
              </a:ext>
            </a:extLst>
          </p:cNvPr>
          <p:cNvSpPr>
            <a:spLocks noGrp="1"/>
          </p:cNvSpPr>
          <p:nvPr>
            <p:ph type="dt" sz="half" idx="10"/>
          </p:nvPr>
        </p:nvSpPr>
        <p:spPr/>
        <p:txBody>
          <a:bodyPr/>
          <a:lstStyle/>
          <a:p>
            <a:fld id="{4E6231D7-09EC-DE4A-9104-5B07140423A5}" type="datetimeFigureOut">
              <a:rPr lang="en-KR" smtClean="0"/>
              <a:t>9/6/21</a:t>
            </a:fld>
            <a:endParaRPr lang="en-KR"/>
          </a:p>
        </p:txBody>
      </p:sp>
      <p:sp>
        <p:nvSpPr>
          <p:cNvPr id="5" name="Footer Placeholder 4">
            <a:extLst>
              <a:ext uri="{FF2B5EF4-FFF2-40B4-BE49-F238E27FC236}">
                <a16:creationId xmlns:a16="http://schemas.microsoft.com/office/drawing/2014/main" id="{B79AAC07-484D-BA4B-8CAE-2911DC829D33}"/>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B43DF009-159A-734C-8718-5C0004E2CED1}"/>
              </a:ext>
            </a:extLst>
          </p:cNvPr>
          <p:cNvSpPr>
            <a:spLocks noGrp="1"/>
          </p:cNvSpPr>
          <p:nvPr>
            <p:ph type="sldNum" sz="quarter" idx="12"/>
          </p:nvPr>
        </p:nvSpPr>
        <p:spPr/>
        <p:txBody>
          <a:bodyPr/>
          <a:lstStyle/>
          <a:p>
            <a:fld id="{21194009-D8CB-E04A-90C5-B8433A59C8B7}" type="slidenum">
              <a:rPr lang="en-KR" smtClean="0"/>
              <a:t>‹#›</a:t>
            </a:fld>
            <a:endParaRPr lang="en-KR"/>
          </a:p>
        </p:txBody>
      </p:sp>
    </p:spTree>
    <p:extLst>
      <p:ext uri="{BB962C8B-B14F-4D97-AF65-F5344CB8AC3E}">
        <p14:creationId xmlns:p14="http://schemas.microsoft.com/office/powerpoint/2010/main" val="1175661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3FA60E-8385-184C-951E-174A5E2375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D020DFB0-032C-7040-9A7C-52C1598F56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98E7DF8F-949A-B44E-BAFA-8448B4C886AD}"/>
              </a:ext>
            </a:extLst>
          </p:cNvPr>
          <p:cNvSpPr>
            <a:spLocks noGrp="1"/>
          </p:cNvSpPr>
          <p:nvPr>
            <p:ph type="dt" sz="half" idx="10"/>
          </p:nvPr>
        </p:nvSpPr>
        <p:spPr/>
        <p:txBody>
          <a:bodyPr/>
          <a:lstStyle/>
          <a:p>
            <a:fld id="{4E6231D7-09EC-DE4A-9104-5B07140423A5}" type="datetimeFigureOut">
              <a:rPr lang="en-KR" smtClean="0"/>
              <a:t>9/6/21</a:t>
            </a:fld>
            <a:endParaRPr lang="en-KR"/>
          </a:p>
        </p:txBody>
      </p:sp>
      <p:sp>
        <p:nvSpPr>
          <p:cNvPr id="5" name="Footer Placeholder 4">
            <a:extLst>
              <a:ext uri="{FF2B5EF4-FFF2-40B4-BE49-F238E27FC236}">
                <a16:creationId xmlns:a16="http://schemas.microsoft.com/office/drawing/2014/main" id="{E74250F6-92D3-6545-8BB5-647C97712646}"/>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1E5068A2-0AAF-AB45-B2F1-33CDEE28A5A7}"/>
              </a:ext>
            </a:extLst>
          </p:cNvPr>
          <p:cNvSpPr>
            <a:spLocks noGrp="1"/>
          </p:cNvSpPr>
          <p:nvPr>
            <p:ph type="sldNum" sz="quarter" idx="12"/>
          </p:nvPr>
        </p:nvSpPr>
        <p:spPr/>
        <p:txBody>
          <a:bodyPr/>
          <a:lstStyle/>
          <a:p>
            <a:fld id="{21194009-D8CB-E04A-90C5-B8433A59C8B7}" type="slidenum">
              <a:rPr lang="en-KR" smtClean="0"/>
              <a:t>‹#›</a:t>
            </a:fld>
            <a:endParaRPr lang="en-KR"/>
          </a:p>
        </p:txBody>
      </p:sp>
    </p:spTree>
    <p:extLst>
      <p:ext uri="{BB962C8B-B14F-4D97-AF65-F5344CB8AC3E}">
        <p14:creationId xmlns:p14="http://schemas.microsoft.com/office/powerpoint/2010/main" val="2507019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E50FB2-7348-FD41-8F5A-F1F50A437D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R"/>
          </a:p>
        </p:txBody>
      </p:sp>
      <p:sp>
        <p:nvSpPr>
          <p:cNvPr id="3" name="Text Placeholder 2">
            <a:extLst>
              <a:ext uri="{FF2B5EF4-FFF2-40B4-BE49-F238E27FC236}">
                <a16:creationId xmlns:a16="http://schemas.microsoft.com/office/drawing/2014/main" id="{676F98D9-9752-3546-A647-3F4582FD9D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8A87F4FE-E0F5-3343-93B7-42AB79B7A0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6231D7-09EC-DE4A-9104-5B07140423A5}" type="datetimeFigureOut">
              <a:rPr lang="en-KR" smtClean="0"/>
              <a:t>9/6/21</a:t>
            </a:fld>
            <a:endParaRPr lang="en-KR"/>
          </a:p>
        </p:txBody>
      </p:sp>
      <p:sp>
        <p:nvSpPr>
          <p:cNvPr id="5" name="Footer Placeholder 4">
            <a:extLst>
              <a:ext uri="{FF2B5EF4-FFF2-40B4-BE49-F238E27FC236}">
                <a16:creationId xmlns:a16="http://schemas.microsoft.com/office/drawing/2014/main" id="{ADDCCC82-9E44-C94D-8D8C-C4A3828355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R"/>
          </a:p>
        </p:txBody>
      </p:sp>
      <p:sp>
        <p:nvSpPr>
          <p:cNvPr id="6" name="Slide Number Placeholder 5">
            <a:extLst>
              <a:ext uri="{FF2B5EF4-FFF2-40B4-BE49-F238E27FC236}">
                <a16:creationId xmlns:a16="http://schemas.microsoft.com/office/drawing/2014/main" id="{1819269F-7BBF-7842-B743-C0CE01F49A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194009-D8CB-E04A-90C5-B8433A59C8B7}" type="slidenum">
              <a:rPr lang="en-KR" smtClean="0"/>
              <a:t>‹#›</a:t>
            </a:fld>
            <a:endParaRPr lang="en-KR"/>
          </a:p>
        </p:txBody>
      </p:sp>
    </p:spTree>
    <p:extLst>
      <p:ext uri="{BB962C8B-B14F-4D97-AF65-F5344CB8AC3E}">
        <p14:creationId xmlns:p14="http://schemas.microsoft.com/office/powerpoint/2010/main" val="545870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F140B-BE18-4144-A56C-65A82270179E}"/>
              </a:ext>
            </a:extLst>
          </p:cNvPr>
          <p:cNvSpPr>
            <a:spLocks noGrp="1"/>
          </p:cNvSpPr>
          <p:nvPr>
            <p:ph type="ctrTitle"/>
          </p:nvPr>
        </p:nvSpPr>
        <p:spPr>
          <a:xfrm>
            <a:off x="394447" y="744071"/>
            <a:ext cx="11331387" cy="2765892"/>
          </a:xfrm>
        </p:spPr>
        <p:txBody>
          <a:bodyPr>
            <a:normAutofit/>
          </a:bodyPr>
          <a:lstStyle/>
          <a:p>
            <a:r>
              <a:rPr lang="en-US" sz="4400" b="1" dirty="0">
                <a:solidFill>
                  <a:srgbClr val="2B0071"/>
                </a:solidFill>
              </a:rPr>
              <a:t>Rethinking Remote Memory Placement </a:t>
            </a:r>
            <a:br>
              <a:rPr lang="en-US" sz="4400" b="1" dirty="0">
                <a:solidFill>
                  <a:srgbClr val="2B0071"/>
                </a:solidFill>
              </a:rPr>
            </a:br>
            <a:r>
              <a:rPr lang="en-US" sz="4400" b="1" dirty="0">
                <a:solidFill>
                  <a:srgbClr val="2B0071"/>
                </a:solidFill>
              </a:rPr>
              <a:t>on Large-Memory Systems with Path Diversity</a:t>
            </a:r>
            <a:endParaRPr lang="en-KR" sz="4400" b="1" dirty="0">
              <a:solidFill>
                <a:srgbClr val="2B0071"/>
              </a:solidFill>
            </a:endParaRPr>
          </a:p>
        </p:txBody>
      </p:sp>
      <p:sp>
        <p:nvSpPr>
          <p:cNvPr id="3" name="Subtitle 2">
            <a:extLst>
              <a:ext uri="{FF2B5EF4-FFF2-40B4-BE49-F238E27FC236}">
                <a16:creationId xmlns:a16="http://schemas.microsoft.com/office/drawing/2014/main" id="{59514FE9-C5EA-A346-8233-B422F144110C}"/>
              </a:ext>
            </a:extLst>
          </p:cNvPr>
          <p:cNvSpPr>
            <a:spLocks noGrp="1"/>
          </p:cNvSpPr>
          <p:nvPr>
            <p:ph type="subTitle" idx="1"/>
          </p:nvPr>
        </p:nvSpPr>
        <p:spPr/>
        <p:txBody>
          <a:bodyPr/>
          <a:lstStyle/>
          <a:p>
            <a:endParaRPr lang="en-KR" dirty="0"/>
          </a:p>
          <a:p>
            <a:r>
              <a:rPr lang="en-KR" dirty="0"/>
              <a:t>Wonkyo Choe, Sang-Hoon Kim, Jeongseob Ahn</a:t>
            </a:r>
          </a:p>
          <a:p>
            <a:r>
              <a:rPr lang="en-KR" dirty="0"/>
              <a:t>A</a:t>
            </a:r>
            <a:r>
              <a:rPr lang="en-US" dirty="0" err="1"/>
              <a:t>jou</a:t>
            </a:r>
            <a:r>
              <a:rPr lang="en-US" dirty="0"/>
              <a:t> University</a:t>
            </a:r>
            <a:endParaRPr lang="en-KR" dirty="0"/>
          </a:p>
        </p:txBody>
      </p:sp>
      <p:pic>
        <p:nvPicPr>
          <p:cNvPr id="5" name="Picture 4" descr="Logo, company name&#10;&#10;Description automatically generated">
            <a:extLst>
              <a:ext uri="{FF2B5EF4-FFF2-40B4-BE49-F238E27FC236}">
                <a16:creationId xmlns:a16="http://schemas.microsoft.com/office/drawing/2014/main" id="{D502FE52-0DC6-7D4D-8FB5-CE7600C0BD3F}"/>
              </a:ext>
            </a:extLst>
          </p:cNvPr>
          <p:cNvPicPr>
            <a:picLocks noChangeAspect="1"/>
          </p:cNvPicPr>
          <p:nvPr/>
        </p:nvPicPr>
        <p:blipFill rotWithShape="1">
          <a:blip r:embed="rId3"/>
          <a:srcRect l="12079" t="79870" r="8378" b="2744"/>
          <a:stretch/>
        </p:blipFill>
        <p:spPr>
          <a:xfrm>
            <a:off x="4132728" y="5257800"/>
            <a:ext cx="3854823" cy="1192307"/>
          </a:xfrm>
          <a:prstGeom prst="rect">
            <a:avLst/>
          </a:prstGeom>
        </p:spPr>
      </p:pic>
    </p:spTree>
    <p:extLst>
      <p:ext uri="{BB962C8B-B14F-4D97-AF65-F5344CB8AC3E}">
        <p14:creationId xmlns:p14="http://schemas.microsoft.com/office/powerpoint/2010/main" val="219306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E1425-4C0C-704F-A041-8ABF51310299}"/>
              </a:ext>
            </a:extLst>
          </p:cNvPr>
          <p:cNvSpPr>
            <a:spLocks noGrp="1"/>
          </p:cNvSpPr>
          <p:nvPr>
            <p:ph type="title"/>
          </p:nvPr>
        </p:nvSpPr>
        <p:spPr/>
        <p:txBody>
          <a:bodyPr/>
          <a:lstStyle/>
          <a:p>
            <a:r>
              <a:rPr lang="en-KR" b="1" dirty="0"/>
              <a:t>Emerging multi-chip systems</a:t>
            </a:r>
          </a:p>
        </p:txBody>
      </p:sp>
      <p:sp>
        <p:nvSpPr>
          <p:cNvPr id="3" name="Content Placeholder 2">
            <a:extLst>
              <a:ext uri="{FF2B5EF4-FFF2-40B4-BE49-F238E27FC236}">
                <a16:creationId xmlns:a16="http://schemas.microsoft.com/office/drawing/2014/main" id="{19D36FC1-AD23-C949-BB49-C2A270112874}"/>
              </a:ext>
            </a:extLst>
          </p:cNvPr>
          <p:cNvSpPr>
            <a:spLocks noGrp="1"/>
          </p:cNvSpPr>
          <p:nvPr>
            <p:ph idx="1"/>
          </p:nvPr>
        </p:nvSpPr>
        <p:spPr/>
        <p:txBody>
          <a:bodyPr/>
          <a:lstStyle/>
          <a:p>
            <a:r>
              <a:rPr lang="en-US" dirty="0"/>
              <a:t>Data center utilizes multi-chip systems to build scale-up servers</a:t>
            </a:r>
          </a:p>
          <a:p>
            <a:pPr lvl="1"/>
            <a:r>
              <a:rPr lang="en-US" dirty="0"/>
              <a:t>Memory controllers for each processor die</a:t>
            </a:r>
          </a:p>
          <a:p>
            <a:pPr lvl="1"/>
            <a:endParaRPr lang="en-US" dirty="0"/>
          </a:p>
          <a:p>
            <a:r>
              <a:rPr lang="en-US" dirty="0"/>
              <a:t>Chip manufacturers is developing such systems</a:t>
            </a:r>
          </a:p>
          <a:p>
            <a:pPr lvl="1"/>
            <a:r>
              <a:rPr lang="en-US" dirty="0"/>
              <a:t>AMD EPYC</a:t>
            </a:r>
          </a:p>
          <a:p>
            <a:pPr lvl="1"/>
            <a:r>
              <a:rPr lang="en-US" dirty="0"/>
              <a:t>Intel Xeon</a:t>
            </a:r>
          </a:p>
          <a:p>
            <a:pPr lvl="1"/>
            <a:endParaRPr lang="en-US" dirty="0"/>
          </a:p>
          <a:p>
            <a:r>
              <a:rPr lang="en-US" dirty="0"/>
              <a:t>Advanced point-to-point interconnect</a:t>
            </a:r>
          </a:p>
          <a:p>
            <a:pPr lvl="1"/>
            <a:r>
              <a:rPr lang="en-US" dirty="0"/>
              <a:t>AMD Infinity Fabric (IF)</a:t>
            </a:r>
          </a:p>
          <a:p>
            <a:pPr lvl="1"/>
            <a:r>
              <a:rPr lang="en-US" dirty="0"/>
              <a:t>Intel Ultra Path Interconnect (UPI)</a:t>
            </a:r>
          </a:p>
        </p:txBody>
      </p:sp>
      <p:pic>
        <p:nvPicPr>
          <p:cNvPr id="1026" name="Picture 2" descr="Download AMD EPYC Logo in SVG Vector or PNG File Format - Logo.wine">
            <a:extLst>
              <a:ext uri="{FF2B5EF4-FFF2-40B4-BE49-F238E27FC236}">
                <a16:creationId xmlns:a16="http://schemas.microsoft.com/office/drawing/2014/main" id="{E3A09EAF-5FB5-2145-A2EB-EE2F91BB86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9864" y="4773602"/>
            <a:ext cx="1910444" cy="12736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nd Gen Intel® Xeon® Scalable Processors Brief">
            <a:extLst>
              <a:ext uri="{FF2B5EF4-FFF2-40B4-BE49-F238E27FC236}">
                <a16:creationId xmlns:a16="http://schemas.microsoft.com/office/drawing/2014/main" id="{7CD87D95-8611-A84D-A898-A7C55454D6D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659" r="20536"/>
          <a:stretch/>
        </p:blipFill>
        <p:spPr bwMode="auto">
          <a:xfrm>
            <a:off x="9808374" y="4643871"/>
            <a:ext cx="1629988" cy="1533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505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9E7A7-AE3B-8648-9FDC-B3345E6E1139}"/>
              </a:ext>
            </a:extLst>
          </p:cNvPr>
          <p:cNvSpPr>
            <a:spLocks noGrp="1"/>
          </p:cNvSpPr>
          <p:nvPr>
            <p:ph type="title"/>
          </p:nvPr>
        </p:nvSpPr>
        <p:spPr/>
        <p:txBody>
          <a:bodyPr/>
          <a:lstStyle/>
          <a:p>
            <a:r>
              <a:rPr lang="en-KR"/>
              <a:t>A distinct feature of multi-chip systems</a:t>
            </a:r>
            <a:endParaRPr lang="en-KR" dirty="0"/>
          </a:p>
        </p:txBody>
      </p:sp>
      <p:sp>
        <p:nvSpPr>
          <p:cNvPr id="3" name="Content Placeholder 2">
            <a:extLst>
              <a:ext uri="{FF2B5EF4-FFF2-40B4-BE49-F238E27FC236}">
                <a16:creationId xmlns:a16="http://schemas.microsoft.com/office/drawing/2014/main" id="{8081EF8D-08A7-3644-ACB2-086F4F731CCB}"/>
              </a:ext>
            </a:extLst>
          </p:cNvPr>
          <p:cNvSpPr>
            <a:spLocks noGrp="1"/>
          </p:cNvSpPr>
          <p:nvPr>
            <p:ph idx="1"/>
          </p:nvPr>
        </p:nvSpPr>
        <p:spPr>
          <a:xfrm>
            <a:off x="838200" y="1825625"/>
            <a:ext cx="5627914" cy="4351338"/>
          </a:xfrm>
        </p:spPr>
        <p:txBody>
          <a:bodyPr/>
          <a:lstStyle/>
          <a:p>
            <a:r>
              <a:rPr lang="en-KR" dirty="0"/>
              <a:t>All remote memory access latencies are similar</a:t>
            </a:r>
          </a:p>
          <a:p>
            <a:pPr lvl="1"/>
            <a:r>
              <a:rPr lang="en-US" dirty="0"/>
              <a:t>Local latency ~= 85 ns</a:t>
            </a:r>
          </a:p>
          <a:p>
            <a:pPr lvl="1"/>
            <a:r>
              <a:rPr lang="en-US" dirty="0"/>
              <a:t>R</a:t>
            </a:r>
            <a:r>
              <a:rPr lang="en-KR" dirty="0"/>
              <a:t>emote latecny ~= 140 ns</a:t>
            </a:r>
          </a:p>
        </p:txBody>
      </p:sp>
      <p:sp>
        <p:nvSpPr>
          <p:cNvPr id="4" name="TextBox 3">
            <a:extLst>
              <a:ext uri="{FF2B5EF4-FFF2-40B4-BE49-F238E27FC236}">
                <a16:creationId xmlns:a16="http://schemas.microsoft.com/office/drawing/2014/main" id="{415FC1BC-FE0F-F74A-8AAD-6496225B7CCB}"/>
              </a:ext>
            </a:extLst>
          </p:cNvPr>
          <p:cNvSpPr txBox="1"/>
          <p:nvPr/>
        </p:nvSpPr>
        <p:spPr>
          <a:xfrm>
            <a:off x="1019299" y="5597381"/>
            <a:ext cx="10153402" cy="1077218"/>
          </a:xfrm>
          <a:prstGeom prst="rect">
            <a:avLst/>
          </a:prstGeom>
          <a:noFill/>
        </p:spPr>
        <p:txBody>
          <a:bodyPr wrap="square" rtlCol="0">
            <a:spAutoFit/>
          </a:bodyPr>
          <a:lstStyle/>
          <a:p>
            <a:pPr algn="ctr"/>
            <a:r>
              <a:rPr lang="en-KR" sz="3200" b="1" i="1" dirty="0">
                <a:solidFill>
                  <a:srgbClr val="C00000"/>
                </a:solidFill>
              </a:rPr>
              <a:t>If the latencies are not that different, </a:t>
            </a:r>
          </a:p>
          <a:p>
            <a:pPr algn="ctr"/>
            <a:r>
              <a:rPr lang="en-KR" sz="3200" b="1" i="1" dirty="0">
                <a:solidFill>
                  <a:srgbClr val="C00000"/>
                </a:solidFill>
              </a:rPr>
              <a:t>doesn’t it matter to allocate memory on any nodes?</a:t>
            </a:r>
          </a:p>
        </p:txBody>
      </p:sp>
      <p:pic>
        <p:nvPicPr>
          <p:cNvPr id="1026" name="Picture 2">
            <a:extLst>
              <a:ext uri="{FF2B5EF4-FFF2-40B4-BE49-F238E27FC236}">
                <a16:creationId xmlns:a16="http://schemas.microsoft.com/office/drawing/2014/main" id="{5828BB13-42CC-CA4B-8455-6511FB7D11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9475" y="1690688"/>
            <a:ext cx="4904325" cy="3614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5467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44926-2192-174F-91B9-72F1F2C9742D}"/>
              </a:ext>
            </a:extLst>
          </p:cNvPr>
          <p:cNvSpPr>
            <a:spLocks noGrp="1"/>
          </p:cNvSpPr>
          <p:nvPr>
            <p:ph type="title"/>
          </p:nvPr>
        </p:nvSpPr>
        <p:spPr/>
        <p:txBody>
          <a:bodyPr/>
          <a:lstStyle/>
          <a:p>
            <a:r>
              <a:rPr lang="en-KR" dirty="0"/>
              <a:t>Traditional NUMA systems</a:t>
            </a:r>
          </a:p>
        </p:txBody>
      </p:sp>
      <p:sp>
        <p:nvSpPr>
          <p:cNvPr id="3" name="Content Placeholder 2">
            <a:extLst>
              <a:ext uri="{FF2B5EF4-FFF2-40B4-BE49-F238E27FC236}">
                <a16:creationId xmlns:a16="http://schemas.microsoft.com/office/drawing/2014/main" id="{9C5301F3-C3AA-1547-8A2D-AE3555B9A15A}"/>
              </a:ext>
            </a:extLst>
          </p:cNvPr>
          <p:cNvSpPr>
            <a:spLocks noGrp="1"/>
          </p:cNvSpPr>
          <p:nvPr>
            <p:ph idx="1"/>
          </p:nvPr>
        </p:nvSpPr>
        <p:spPr/>
        <p:txBody>
          <a:bodyPr/>
          <a:lstStyle/>
          <a:p>
            <a:r>
              <a:rPr lang="en-KR" dirty="0"/>
              <a:t>Linux configures multi-chip systems as a cpu node</a:t>
            </a:r>
          </a:p>
          <a:p>
            <a:r>
              <a:rPr lang="en-KR" dirty="0"/>
              <a:t>Each node has own memory node</a:t>
            </a:r>
          </a:p>
        </p:txBody>
      </p:sp>
      <p:sp>
        <p:nvSpPr>
          <p:cNvPr id="4" name="Rectangle 3">
            <a:extLst>
              <a:ext uri="{FF2B5EF4-FFF2-40B4-BE49-F238E27FC236}">
                <a16:creationId xmlns:a16="http://schemas.microsoft.com/office/drawing/2014/main" id="{B5494557-ADC0-C64C-8A1D-4A69F542BB0F}"/>
              </a:ext>
            </a:extLst>
          </p:cNvPr>
          <p:cNvSpPr/>
          <p:nvPr/>
        </p:nvSpPr>
        <p:spPr>
          <a:xfrm>
            <a:off x="2413518" y="3429000"/>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CPU-0</a:t>
            </a:r>
          </a:p>
        </p:txBody>
      </p:sp>
      <p:sp>
        <p:nvSpPr>
          <p:cNvPr id="6" name="Rectangle 5">
            <a:extLst>
              <a:ext uri="{FF2B5EF4-FFF2-40B4-BE49-F238E27FC236}">
                <a16:creationId xmlns:a16="http://schemas.microsoft.com/office/drawing/2014/main" id="{92AD5BC6-D74D-AB42-80C4-FC8D51B8F485}"/>
              </a:ext>
            </a:extLst>
          </p:cNvPr>
          <p:cNvSpPr/>
          <p:nvPr/>
        </p:nvSpPr>
        <p:spPr>
          <a:xfrm>
            <a:off x="2413517" y="4852719"/>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DIMM-0</a:t>
            </a:r>
          </a:p>
        </p:txBody>
      </p:sp>
      <p:sp>
        <p:nvSpPr>
          <p:cNvPr id="7" name="Rectangle 6">
            <a:extLst>
              <a:ext uri="{FF2B5EF4-FFF2-40B4-BE49-F238E27FC236}">
                <a16:creationId xmlns:a16="http://schemas.microsoft.com/office/drawing/2014/main" id="{27E383C7-18BE-5B4D-873D-0B2219AF9121}"/>
              </a:ext>
            </a:extLst>
          </p:cNvPr>
          <p:cNvSpPr/>
          <p:nvPr/>
        </p:nvSpPr>
        <p:spPr>
          <a:xfrm>
            <a:off x="4307632" y="3429000"/>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CPU-1</a:t>
            </a:r>
          </a:p>
        </p:txBody>
      </p:sp>
      <p:sp>
        <p:nvSpPr>
          <p:cNvPr id="8" name="Rectangle 7">
            <a:extLst>
              <a:ext uri="{FF2B5EF4-FFF2-40B4-BE49-F238E27FC236}">
                <a16:creationId xmlns:a16="http://schemas.microsoft.com/office/drawing/2014/main" id="{FFB668BB-5AF8-0E42-BC6B-18DD55E08608}"/>
              </a:ext>
            </a:extLst>
          </p:cNvPr>
          <p:cNvSpPr/>
          <p:nvPr/>
        </p:nvSpPr>
        <p:spPr>
          <a:xfrm>
            <a:off x="4307631" y="4852719"/>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DIMM-1</a:t>
            </a:r>
          </a:p>
        </p:txBody>
      </p:sp>
      <p:sp>
        <p:nvSpPr>
          <p:cNvPr id="9" name="Rectangle 8">
            <a:extLst>
              <a:ext uri="{FF2B5EF4-FFF2-40B4-BE49-F238E27FC236}">
                <a16:creationId xmlns:a16="http://schemas.microsoft.com/office/drawing/2014/main" id="{F986EEA5-A4C2-8D4C-B39F-C5E2541A646E}"/>
              </a:ext>
            </a:extLst>
          </p:cNvPr>
          <p:cNvSpPr/>
          <p:nvPr/>
        </p:nvSpPr>
        <p:spPr>
          <a:xfrm>
            <a:off x="6201746" y="3429000"/>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CPU-2</a:t>
            </a:r>
          </a:p>
        </p:txBody>
      </p:sp>
      <p:sp>
        <p:nvSpPr>
          <p:cNvPr id="10" name="Rectangle 9">
            <a:extLst>
              <a:ext uri="{FF2B5EF4-FFF2-40B4-BE49-F238E27FC236}">
                <a16:creationId xmlns:a16="http://schemas.microsoft.com/office/drawing/2014/main" id="{B801A358-4FE2-4148-BDC4-8EAAA42CB5D3}"/>
              </a:ext>
            </a:extLst>
          </p:cNvPr>
          <p:cNvSpPr/>
          <p:nvPr/>
        </p:nvSpPr>
        <p:spPr>
          <a:xfrm>
            <a:off x="6201745" y="4852719"/>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DIMM-2</a:t>
            </a:r>
          </a:p>
        </p:txBody>
      </p:sp>
      <p:sp>
        <p:nvSpPr>
          <p:cNvPr id="11" name="Rectangle 10">
            <a:extLst>
              <a:ext uri="{FF2B5EF4-FFF2-40B4-BE49-F238E27FC236}">
                <a16:creationId xmlns:a16="http://schemas.microsoft.com/office/drawing/2014/main" id="{EFB9A166-61E1-C042-BA63-FE01D7D63147}"/>
              </a:ext>
            </a:extLst>
          </p:cNvPr>
          <p:cNvSpPr/>
          <p:nvPr/>
        </p:nvSpPr>
        <p:spPr>
          <a:xfrm>
            <a:off x="8212498" y="3429000"/>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CPU-3</a:t>
            </a:r>
          </a:p>
        </p:txBody>
      </p:sp>
      <p:sp>
        <p:nvSpPr>
          <p:cNvPr id="12" name="Rectangle 11">
            <a:extLst>
              <a:ext uri="{FF2B5EF4-FFF2-40B4-BE49-F238E27FC236}">
                <a16:creationId xmlns:a16="http://schemas.microsoft.com/office/drawing/2014/main" id="{E7756866-43FD-7A42-8BB8-4D7EA114DBAB}"/>
              </a:ext>
            </a:extLst>
          </p:cNvPr>
          <p:cNvSpPr/>
          <p:nvPr/>
        </p:nvSpPr>
        <p:spPr>
          <a:xfrm>
            <a:off x="8212497" y="4852719"/>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DIMM-3</a:t>
            </a:r>
          </a:p>
        </p:txBody>
      </p:sp>
    </p:spTree>
    <p:extLst>
      <p:ext uri="{BB962C8B-B14F-4D97-AF65-F5344CB8AC3E}">
        <p14:creationId xmlns:p14="http://schemas.microsoft.com/office/powerpoint/2010/main" val="930618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44926-2192-174F-91B9-72F1F2C9742D}"/>
              </a:ext>
            </a:extLst>
          </p:cNvPr>
          <p:cNvSpPr>
            <a:spLocks noGrp="1"/>
          </p:cNvSpPr>
          <p:nvPr>
            <p:ph type="title"/>
          </p:nvPr>
        </p:nvSpPr>
        <p:spPr/>
        <p:txBody>
          <a:bodyPr/>
          <a:lstStyle/>
          <a:p>
            <a:r>
              <a:rPr lang="en-KR" dirty="0"/>
              <a:t>Default memory placement (first-touch)</a:t>
            </a:r>
          </a:p>
        </p:txBody>
      </p:sp>
      <p:sp>
        <p:nvSpPr>
          <p:cNvPr id="3" name="Content Placeholder 2">
            <a:extLst>
              <a:ext uri="{FF2B5EF4-FFF2-40B4-BE49-F238E27FC236}">
                <a16:creationId xmlns:a16="http://schemas.microsoft.com/office/drawing/2014/main" id="{9C5301F3-C3AA-1547-8A2D-AE3555B9A15A}"/>
              </a:ext>
            </a:extLst>
          </p:cNvPr>
          <p:cNvSpPr>
            <a:spLocks noGrp="1"/>
          </p:cNvSpPr>
          <p:nvPr>
            <p:ph idx="1"/>
          </p:nvPr>
        </p:nvSpPr>
        <p:spPr/>
        <p:txBody>
          <a:bodyPr/>
          <a:lstStyle/>
          <a:p>
            <a:r>
              <a:rPr lang="en-KR" dirty="0"/>
              <a:t>local memory is not enough</a:t>
            </a:r>
          </a:p>
          <a:p>
            <a:pPr lvl="1"/>
            <a:r>
              <a:rPr lang="en-KR" dirty="0"/>
              <a:t>Linux requires memory from other memory nodes</a:t>
            </a:r>
          </a:p>
          <a:p>
            <a:pPr lvl="1"/>
            <a:r>
              <a:rPr lang="en-US" dirty="0"/>
              <a:t>Fallback node list determined when system boots</a:t>
            </a:r>
            <a:endParaRPr lang="en-KR" dirty="0"/>
          </a:p>
          <a:p>
            <a:pPr marL="457200" lvl="1" indent="0">
              <a:buNone/>
            </a:pPr>
            <a:endParaRPr lang="en-KR" dirty="0"/>
          </a:p>
        </p:txBody>
      </p:sp>
      <p:sp>
        <p:nvSpPr>
          <p:cNvPr id="4" name="Rectangle 3">
            <a:extLst>
              <a:ext uri="{FF2B5EF4-FFF2-40B4-BE49-F238E27FC236}">
                <a16:creationId xmlns:a16="http://schemas.microsoft.com/office/drawing/2014/main" id="{B5494557-ADC0-C64C-8A1D-4A69F542BB0F}"/>
              </a:ext>
            </a:extLst>
          </p:cNvPr>
          <p:cNvSpPr/>
          <p:nvPr/>
        </p:nvSpPr>
        <p:spPr>
          <a:xfrm>
            <a:off x="2413518"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CPU-0</a:t>
            </a:r>
          </a:p>
        </p:txBody>
      </p:sp>
      <p:sp>
        <p:nvSpPr>
          <p:cNvPr id="6" name="Rectangle 5">
            <a:extLst>
              <a:ext uri="{FF2B5EF4-FFF2-40B4-BE49-F238E27FC236}">
                <a16:creationId xmlns:a16="http://schemas.microsoft.com/office/drawing/2014/main" id="{92AD5BC6-D74D-AB42-80C4-FC8D51B8F485}"/>
              </a:ext>
            </a:extLst>
          </p:cNvPr>
          <p:cNvSpPr/>
          <p:nvPr/>
        </p:nvSpPr>
        <p:spPr>
          <a:xfrm>
            <a:off x="2413517" y="5092204"/>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DIMM-0</a:t>
            </a:r>
          </a:p>
        </p:txBody>
      </p:sp>
      <p:sp>
        <p:nvSpPr>
          <p:cNvPr id="7" name="Rectangle 6">
            <a:extLst>
              <a:ext uri="{FF2B5EF4-FFF2-40B4-BE49-F238E27FC236}">
                <a16:creationId xmlns:a16="http://schemas.microsoft.com/office/drawing/2014/main" id="{27E383C7-18BE-5B4D-873D-0B2219AF9121}"/>
              </a:ext>
            </a:extLst>
          </p:cNvPr>
          <p:cNvSpPr/>
          <p:nvPr/>
        </p:nvSpPr>
        <p:spPr>
          <a:xfrm>
            <a:off x="4307632"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CPU-1</a:t>
            </a:r>
          </a:p>
        </p:txBody>
      </p:sp>
      <p:sp>
        <p:nvSpPr>
          <p:cNvPr id="8" name="Rectangle 7">
            <a:extLst>
              <a:ext uri="{FF2B5EF4-FFF2-40B4-BE49-F238E27FC236}">
                <a16:creationId xmlns:a16="http://schemas.microsoft.com/office/drawing/2014/main" id="{FFB668BB-5AF8-0E42-BC6B-18DD55E08608}"/>
              </a:ext>
            </a:extLst>
          </p:cNvPr>
          <p:cNvSpPr/>
          <p:nvPr/>
        </p:nvSpPr>
        <p:spPr>
          <a:xfrm>
            <a:off x="4307631" y="5092204"/>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DIMM-1</a:t>
            </a:r>
          </a:p>
        </p:txBody>
      </p:sp>
      <p:sp>
        <p:nvSpPr>
          <p:cNvPr id="9" name="Rectangle 8">
            <a:extLst>
              <a:ext uri="{FF2B5EF4-FFF2-40B4-BE49-F238E27FC236}">
                <a16:creationId xmlns:a16="http://schemas.microsoft.com/office/drawing/2014/main" id="{F986EEA5-A4C2-8D4C-B39F-C5E2541A646E}"/>
              </a:ext>
            </a:extLst>
          </p:cNvPr>
          <p:cNvSpPr/>
          <p:nvPr/>
        </p:nvSpPr>
        <p:spPr>
          <a:xfrm>
            <a:off x="6201746"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CPU-2</a:t>
            </a:r>
          </a:p>
        </p:txBody>
      </p:sp>
      <p:sp>
        <p:nvSpPr>
          <p:cNvPr id="10" name="Rectangle 9">
            <a:extLst>
              <a:ext uri="{FF2B5EF4-FFF2-40B4-BE49-F238E27FC236}">
                <a16:creationId xmlns:a16="http://schemas.microsoft.com/office/drawing/2014/main" id="{B801A358-4FE2-4148-BDC4-8EAAA42CB5D3}"/>
              </a:ext>
            </a:extLst>
          </p:cNvPr>
          <p:cNvSpPr/>
          <p:nvPr/>
        </p:nvSpPr>
        <p:spPr>
          <a:xfrm>
            <a:off x="6201745" y="5092204"/>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DIMM-2</a:t>
            </a:r>
          </a:p>
        </p:txBody>
      </p:sp>
      <p:sp>
        <p:nvSpPr>
          <p:cNvPr id="11" name="Rectangle 10">
            <a:extLst>
              <a:ext uri="{FF2B5EF4-FFF2-40B4-BE49-F238E27FC236}">
                <a16:creationId xmlns:a16="http://schemas.microsoft.com/office/drawing/2014/main" id="{EFB9A166-61E1-C042-BA63-FE01D7D63147}"/>
              </a:ext>
            </a:extLst>
          </p:cNvPr>
          <p:cNvSpPr/>
          <p:nvPr/>
        </p:nvSpPr>
        <p:spPr>
          <a:xfrm>
            <a:off x="8212498"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CPU-3</a:t>
            </a:r>
          </a:p>
        </p:txBody>
      </p:sp>
      <p:sp>
        <p:nvSpPr>
          <p:cNvPr id="12" name="Rectangle 11">
            <a:extLst>
              <a:ext uri="{FF2B5EF4-FFF2-40B4-BE49-F238E27FC236}">
                <a16:creationId xmlns:a16="http://schemas.microsoft.com/office/drawing/2014/main" id="{E7756866-43FD-7A42-8BB8-4D7EA114DBAB}"/>
              </a:ext>
            </a:extLst>
          </p:cNvPr>
          <p:cNvSpPr/>
          <p:nvPr/>
        </p:nvSpPr>
        <p:spPr>
          <a:xfrm>
            <a:off x="8212497" y="5092204"/>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DIMM-3</a:t>
            </a:r>
          </a:p>
        </p:txBody>
      </p:sp>
      <p:sp>
        <p:nvSpPr>
          <p:cNvPr id="5" name="Rectangle 4">
            <a:extLst>
              <a:ext uri="{FF2B5EF4-FFF2-40B4-BE49-F238E27FC236}">
                <a16:creationId xmlns:a16="http://schemas.microsoft.com/office/drawing/2014/main" id="{BFE2C03C-F698-FD46-95AB-29E6F2C29648}"/>
              </a:ext>
            </a:extLst>
          </p:cNvPr>
          <p:cNvSpPr/>
          <p:nvPr/>
        </p:nvSpPr>
        <p:spPr>
          <a:xfrm>
            <a:off x="2413517" y="3254829"/>
            <a:ext cx="1276737" cy="3461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Thread A </a:t>
            </a:r>
          </a:p>
        </p:txBody>
      </p:sp>
      <p:sp>
        <p:nvSpPr>
          <p:cNvPr id="13" name="Oval 12">
            <a:extLst>
              <a:ext uri="{FF2B5EF4-FFF2-40B4-BE49-F238E27FC236}">
                <a16:creationId xmlns:a16="http://schemas.microsoft.com/office/drawing/2014/main" id="{1AB76ACA-263D-654B-8E3B-26F732C19171}"/>
              </a:ext>
            </a:extLst>
          </p:cNvPr>
          <p:cNvSpPr/>
          <p:nvPr/>
        </p:nvSpPr>
        <p:spPr>
          <a:xfrm>
            <a:off x="2382506" y="6068291"/>
            <a:ext cx="498764" cy="498764"/>
          </a:xfrm>
          <a:prstGeom prst="ellipse">
            <a:avLst/>
          </a:prstGeom>
          <a:solidFill>
            <a:srgbClr val="C0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1</a:t>
            </a:r>
          </a:p>
        </p:txBody>
      </p:sp>
      <p:sp>
        <p:nvSpPr>
          <p:cNvPr id="14" name="Oval 13">
            <a:extLst>
              <a:ext uri="{FF2B5EF4-FFF2-40B4-BE49-F238E27FC236}">
                <a16:creationId xmlns:a16="http://schemas.microsoft.com/office/drawing/2014/main" id="{151B3E96-DDB8-D849-A425-D3D7FCCB0B10}"/>
              </a:ext>
            </a:extLst>
          </p:cNvPr>
          <p:cNvSpPr/>
          <p:nvPr/>
        </p:nvSpPr>
        <p:spPr>
          <a:xfrm>
            <a:off x="4337178" y="6086565"/>
            <a:ext cx="498764" cy="498764"/>
          </a:xfrm>
          <a:prstGeom prst="ellipse">
            <a:avLst/>
          </a:prstGeom>
          <a:solidFill>
            <a:srgbClr val="C0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2</a:t>
            </a:r>
          </a:p>
        </p:txBody>
      </p:sp>
      <p:sp>
        <p:nvSpPr>
          <p:cNvPr id="15" name="Oval 14">
            <a:extLst>
              <a:ext uri="{FF2B5EF4-FFF2-40B4-BE49-F238E27FC236}">
                <a16:creationId xmlns:a16="http://schemas.microsoft.com/office/drawing/2014/main" id="{FFD71738-9DAF-3441-B91E-97794D640C52}"/>
              </a:ext>
            </a:extLst>
          </p:cNvPr>
          <p:cNvSpPr/>
          <p:nvPr/>
        </p:nvSpPr>
        <p:spPr>
          <a:xfrm>
            <a:off x="6156070" y="6086565"/>
            <a:ext cx="498764" cy="498764"/>
          </a:xfrm>
          <a:prstGeom prst="ellipse">
            <a:avLst/>
          </a:prstGeom>
          <a:solidFill>
            <a:srgbClr val="C0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3</a:t>
            </a:r>
          </a:p>
        </p:txBody>
      </p:sp>
      <p:sp>
        <p:nvSpPr>
          <p:cNvPr id="16" name="Oval 15">
            <a:extLst>
              <a:ext uri="{FF2B5EF4-FFF2-40B4-BE49-F238E27FC236}">
                <a16:creationId xmlns:a16="http://schemas.microsoft.com/office/drawing/2014/main" id="{6668E7E9-027D-8D49-9BAE-92E49BA509AA}"/>
              </a:ext>
            </a:extLst>
          </p:cNvPr>
          <p:cNvSpPr/>
          <p:nvPr/>
        </p:nvSpPr>
        <p:spPr>
          <a:xfrm>
            <a:off x="8212497" y="6086565"/>
            <a:ext cx="498764" cy="498764"/>
          </a:xfrm>
          <a:prstGeom prst="ellipse">
            <a:avLst/>
          </a:prstGeom>
          <a:solidFill>
            <a:srgbClr val="C0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4</a:t>
            </a:r>
          </a:p>
        </p:txBody>
      </p:sp>
      <p:sp>
        <p:nvSpPr>
          <p:cNvPr id="17" name="Rectangle 16">
            <a:extLst>
              <a:ext uri="{FF2B5EF4-FFF2-40B4-BE49-F238E27FC236}">
                <a16:creationId xmlns:a16="http://schemas.microsoft.com/office/drawing/2014/main" id="{BE459F5E-A47F-774F-9F63-F8AFDC91C59D}"/>
              </a:ext>
            </a:extLst>
          </p:cNvPr>
          <p:cNvSpPr/>
          <p:nvPr/>
        </p:nvSpPr>
        <p:spPr>
          <a:xfrm>
            <a:off x="6201745" y="3254829"/>
            <a:ext cx="1276737" cy="34618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Thread B </a:t>
            </a:r>
          </a:p>
        </p:txBody>
      </p:sp>
      <p:sp>
        <p:nvSpPr>
          <p:cNvPr id="18" name="Oval 17">
            <a:extLst>
              <a:ext uri="{FF2B5EF4-FFF2-40B4-BE49-F238E27FC236}">
                <a16:creationId xmlns:a16="http://schemas.microsoft.com/office/drawing/2014/main" id="{A437CAF2-E76C-7644-92DC-1605D41C5B8B}"/>
              </a:ext>
            </a:extLst>
          </p:cNvPr>
          <p:cNvSpPr/>
          <p:nvPr/>
        </p:nvSpPr>
        <p:spPr>
          <a:xfrm>
            <a:off x="6990600" y="6091063"/>
            <a:ext cx="498764" cy="498764"/>
          </a:xfrm>
          <a:prstGeom prst="ellipse">
            <a:avLst/>
          </a:prstGeom>
          <a:solidFill>
            <a:srgbClr val="92D05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1</a:t>
            </a:r>
          </a:p>
        </p:txBody>
      </p:sp>
      <p:sp>
        <p:nvSpPr>
          <p:cNvPr id="19" name="Oval 18">
            <a:extLst>
              <a:ext uri="{FF2B5EF4-FFF2-40B4-BE49-F238E27FC236}">
                <a16:creationId xmlns:a16="http://schemas.microsoft.com/office/drawing/2014/main" id="{6C47B2B4-32E1-E540-A1B4-5A679BF790A5}"/>
              </a:ext>
            </a:extLst>
          </p:cNvPr>
          <p:cNvSpPr/>
          <p:nvPr/>
        </p:nvSpPr>
        <p:spPr>
          <a:xfrm>
            <a:off x="9028575" y="6077204"/>
            <a:ext cx="498764" cy="498764"/>
          </a:xfrm>
          <a:prstGeom prst="ellipse">
            <a:avLst/>
          </a:prstGeom>
          <a:solidFill>
            <a:srgbClr val="92D05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2</a:t>
            </a:r>
          </a:p>
        </p:txBody>
      </p:sp>
      <p:sp>
        <p:nvSpPr>
          <p:cNvPr id="20" name="Oval 19">
            <a:extLst>
              <a:ext uri="{FF2B5EF4-FFF2-40B4-BE49-F238E27FC236}">
                <a16:creationId xmlns:a16="http://schemas.microsoft.com/office/drawing/2014/main" id="{0106FC7A-A3FA-4B4A-B281-70B9655465DB}"/>
              </a:ext>
            </a:extLst>
          </p:cNvPr>
          <p:cNvSpPr/>
          <p:nvPr/>
        </p:nvSpPr>
        <p:spPr>
          <a:xfrm>
            <a:off x="5078750" y="6077204"/>
            <a:ext cx="498764" cy="498764"/>
          </a:xfrm>
          <a:prstGeom prst="ellipse">
            <a:avLst/>
          </a:prstGeom>
          <a:solidFill>
            <a:srgbClr val="92D05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4</a:t>
            </a:r>
          </a:p>
        </p:txBody>
      </p:sp>
      <p:sp>
        <p:nvSpPr>
          <p:cNvPr id="21" name="Oval 20">
            <a:extLst>
              <a:ext uri="{FF2B5EF4-FFF2-40B4-BE49-F238E27FC236}">
                <a16:creationId xmlns:a16="http://schemas.microsoft.com/office/drawing/2014/main" id="{CB2B8E02-44BB-E945-9382-20C04F36EE12}"/>
              </a:ext>
            </a:extLst>
          </p:cNvPr>
          <p:cNvSpPr/>
          <p:nvPr/>
        </p:nvSpPr>
        <p:spPr>
          <a:xfrm>
            <a:off x="3125596" y="6077204"/>
            <a:ext cx="498764" cy="498764"/>
          </a:xfrm>
          <a:prstGeom prst="ellipse">
            <a:avLst/>
          </a:prstGeom>
          <a:solidFill>
            <a:srgbClr val="92D05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3</a:t>
            </a:r>
          </a:p>
        </p:txBody>
      </p:sp>
    </p:spTree>
    <p:extLst>
      <p:ext uri="{BB962C8B-B14F-4D97-AF65-F5344CB8AC3E}">
        <p14:creationId xmlns:p14="http://schemas.microsoft.com/office/powerpoint/2010/main" val="1889906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6"/>
                                        </p:tgtEl>
                                        <p:attrNameLst>
                                          <p:attrName>fillcolor</p:attrName>
                                        </p:attrNameLst>
                                      </p:cBhvr>
                                      <p:to>
                                        <a:srgbClr val="FF2600"/>
                                      </p:to>
                                    </p:animClr>
                                    <p:set>
                                      <p:cBhvr>
                                        <p:cTn id="7" dur="500" fill="hold"/>
                                        <p:tgtEl>
                                          <p:spTgt spid="6"/>
                                        </p:tgtEl>
                                        <p:attrNameLst>
                                          <p:attrName>fill.type</p:attrName>
                                        </p:attrNameLst>
                                      </p:cBhvr>
                                      <p:to>
                                        <p:strVal val="solid"/>
                                      </p:to>
                                    </p:set>
                                    <p:set>
                                      <p:cBhvr>
                                        <p:cTn id="8" dur="500" fill="hold"/>
                                        <p:tgtEl>
                                          <p:spTgt spid="6"/>
                                        </p:tgtEl>
                                        <p:attrNameLst>
                                          <p:attrName>fill.on</p:attrName>
                                        </p:attrNameLst>
                                      </p:cBhvr>
                                      <p:to>
                                        <p:strVal val="tru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mph" presetSubtype="2" fill="hold" nodeType="withEffect">
                                  <p:stCondLst>
                                    <p:cond delay="0"/>
                                  </p:stCondLst>
                                  <p:childTnLst>
                                    <p:animClr clrSpc="rgb" dir="cw">
                                      <p:cBhvr>
                                        <p:cTn id="16" dur="500" fill="hold"/>
                                        <p:tgtEl>
                                          <p:spTgt spid="8"/>
                                        </p:tgtEl>
                                        <p:attrNameLst>
                                          <p:attrName>fillcolor</p:attrName>
                                        </p:attrNameLst>
                                      </p:cBhvr>
                                      <p:to>
                                        <a:srgbClr val="FF9300"/>
                                      </p:to>
                                    </p:animClr>
                                    <p:set>
                                      <p:cBhvr>
                                        <p:cTn id="17" dur="500" fill="hold"/>
                                        <p:tgtEl>
                                          <p:spTgt spid="8"/>
                                        </p:tgtEl>
                                        <p:attrNameLst>
                                          <p:attrName>fill.type</p:attrName>
                                        </p:attrNameLst>
                                      </p:cBhvr>
                                      <p:to>
                                        <p:strVal val="solid"/>
                                      </p:to>
                                    </p:set>
                                    <p:set>
                                      <p:cBhvr>
                                        <p:cTn id="18" dur="500" fill="hold"/>
                                        <p:tgtEl>
                                          <p:spTgt spid="8"/>
                                        </p:tgtEl>
                                        <p:attrNameLst>
                                          <p:attrName>fill.on</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mph" presetSubtype="2" fill="hold" nodeType="withEffect">
                                  <p:stCondLst>
                                    <p:cond delay="0"/>
                                  </p:stCondLst>
                                  <p:childTnLst>
                                    <p:animClr clrSpc="rgb" dir="cw">
                                      <p:cBhvr>
                                        <p:cTn id="24" dur="500" fill="hold"/>
                                        <p:tgtEl>
                                          <p:spTgt spid="10"/>
                                        </p:tgtEl>
                                        <p:attrNameLst>
                                          <p:attrName>fillcolor</p:attrName>
                                        </p:attrNameLst>
                                      </p:cBhvr>
                                      <p:to>
                                        <a:srgbClr val="8EFA00"/>
                                      </p:to>
                                    </p:animClr>
                                    <p:set>
                                      <p:cBhvr>
                                        <p:cTn id="25" dur="500" fill="hold"/>
                                        <p:tgtEl>
                                          <p:spTgt spid="10"/>
                                        </p:tgtEl>
                                        <p:attrNameLst>
                                          <p:attrName>fill.type</p:attrName>
                                        </p:attrNameLst>
                                      </p:cBhvr>
                                      <p:to>
                                        <p:strVal val="solid"/>
                                      </p:to>
                                    </p:set>
                                    <p:set>
                                      <p:cBhvr>
                                        <p:cTn id="26" dur="500" fill="hold"/>
                                        <p:tgtEl>
                                          <p:spTgt spid="10"/>
                                        </p:tgtEl>
                                        <p:attrNameLst>
                                          <p:attrName>fill.on</p:attrName>
                                        </p:attrNameLst>
                                      </p:cBhvr>
                                      <p:to>
                                        <p:strVal val="tru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mph" presetSubtype="2" fill="hold" nodeType="withEffect">
                                  <p:stCondLst>
                                    <p:cond delay="0"/>
                                  </p:stCondLst>
                                  <p:childTnLst>
                                    <p:animClr clrSpc="rgb" dir="cw">
                                      <p:cBhvr>
                                        <p:cTn id="32" dur="500" fill="hold"/>
                                        <p:tgtEl>
                                          <p:spTgt spid="12"/>
                                        </p:tgtEl>
                                        <p:attrNameLst>
                                          <p:attrName>fillcolor</p:attrName>
                                        </p:attrNameLst>
                                      </p:cBhvr>
                                      <p:to>
                                        <a:srgbClr val="0432FF"/>
                                      </p:to>
                                    </p:animClr>
                                    <p:set>
                                      <p:cBhvr>
                                        <p:cTn id="33" dur="500" fill="hold"/>
                                        <p:tgtEl>
                                          <p:spTgt spid="12"/>
                                        </p:tgtEl>
                                        <p:attrNameLst>
                                          <p:attrName>fill.type</p:attrName>
                                        </p:attrNameLst>
                                      </p:cBhvr>
                                      <p:to>
                                        <p:strVal val="solid"/>
                                      </p:to>
                                    </p:set>
                                    <p:set>
                                      <p:cBhvr>
                                        <p:cTn id="34" dur="500" fill="hold"/>
                                        <p:tgtEl>
                                          <p:spTgt spid="12"/>
                                        </p:tgtEl>
                                        <p:attrNameLst>
                                          <p:attrName>fill.on</p:attrName>
                                        </p:attrNameLst>
                                      </p:cBhvr>
                                      <p:to>
                                        <p:strVal val="tru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44926-2192-174F-91B9-72F1F2C9742D}"/>
              </a:ext>
            </a:extLst>
          </p:cNvPr>
          <p:cNvSpPr>
            <a:spLocks noGrp="1"/>
          </p:cNvSpPr>
          <p:nvPr>
            <p:ph type="title"/>
          </p:nvPr>
        </p:nvSpPr>
        <p:spPr/>
        <p:txBody>
          <a:bodyPr/>
          <a:lstStyle/>
          <a:p>
            <a:r>
              <a:rPr lang="en-KR" dirty="0"/>
              <a:t>Default memory placement (first-touch)</a:t>
            </a:r>
          </a:p>
        </p:txBody>
      </p:sp>
      <p:sp>
        <p:nvSpPr>
          <p:cNvPr id="3" name="Content Placeholder 2">
            <a:extLst>
              <a:ext uri="{FF2B5EF4-FFF2-40B4-BE49-F238E27FC236}">
                <a16:creationId xmlns:a16="http://schemas.microsoft.com/office/drawing/2014/main" id="{9C5301F3-C3AA-1547-8A2D-AE3555B9A15A}"/>
              </a:ext>
            </a:extLst>
          </p:cNvPr>
          <p:cNvSpPr>
            <a:spLocks noGrp="1"/>
          </p:cNvSpPr>
          <p:nvPr>
            <p:ph idx="1"/>
          </p:nvPr>
        </p:nvSpPr>
        <p:spPr/>
        <p:txBody>
          <a:bodyPr/>
          <a:lstStyle/>
          <a:p>
            <a:r>
              <a:rPr lang="en-KR" dirty="0"/>
              <a:t>Depends on where thread at</a:t>
            </a:r>
          </a:p>
          <a:p>
            <a:r>
              <a:rPr lang="en-KR" dirty="0"/>
              <a:t>For instance, located at CPU-2</a:t>
            </a:r>
          </a:p>
        </p:txBody>
      </p:sp>
      <p:sp>
        <p:nvSpPr>
          <p:cNvPr id="4" name="Rectangle 3">
            <a:extLst>
              <a:ext uri="{FF2B5EF4-FFF2-40B4-BE49-F238E27FC236}">
                <a16:creationId xmlns:a16="http://schemas.microsoft.com/office/drawing/2014/main" id="{B5494557-ADC0-C64C-8A1D-4A69F542BB0F}"/>
              </a:ext>
            </a:extLst>
          </p:cNvPr>
          <p:cNvSpPr/>
          <p:nvPr/>
        </p:nvSpPr>
        <p:spPr>
          <a:xfrm>
            <a:off x="2413518"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CPU-0</a:t>
            </a:r>
          </a:p>
        </p:txBody>
      </p:sp>
      <p:sp>
        <p:nvSpPr>
          <p:cNvPr id="6" name="Rectangle 5">
            <a:extLst>
              <a:ext uri="{FF2B5EF4-FFF2-40B4-BE49-F238E27FC236}">
                <a16:creationId xmlns:a16="http://schemas.microsoft.com/office/drawing/2014/main" id="{92AD5BC6-D74D-AB42-80C4-FC8D51B8F485}"/>
              </a:ext>
            </a:extLst>
          </p:cNvPr>
          <p:cNvSpPr/>
          <p:nvPr/>
        </p:nvSpPr>
        <p:spPr>
          <a:xfrm>
            <a:off x="2413517" y="5092204"/>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DIMM-0</a:t>
            </a:r>
          </a:p>
        </p:txBody>
      </p:sp>
      <p:sp>
        <p:nvSpPr>
          <p:cNvPr id="7" name="Rectangle 6">
            <a:extLst>
              <a:ext uri="{FF2B5EF4-FFF2-40B4-BE49-F238E27FC236}">
                <a16:creationId xmlns:a16="http://schemas.microsoft.com/office/drawing/2014/main" id="{27E383C7-18BE-5B4D-873D-0B2219AF9121}"/>
              </a:ext>
            </a:extLst>
          </p:cNvPr>
          <p:cNvSpPr/>
          <p:nvPr/>
        </p:nvSpPr>
        <p:spPr>
          <a:xfrm>
            <a:off x="4307632"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CPU-1</a:t>
            </a:r>
          </a:p>
        </p:txBody>
      </p:sp>
      <p:sp>
        <p:nvSpPr>
          <p:cNvPr id="8" name="Rectangle 7">
            <a:extLst>
              <a:ext uri="{FF2B5EF4-FFF2-40B4-BE49-F238E27FC236}">
                <a16:creationId xmlns:a16="http://schemas.microsoft.com/office/drawing/2014/main" id="{FFB668BB-5AF8-0E42-BC6B-18DD55E08608}"/>
              </a:ext>
            </a:extLst>
          </p:cNvPr>
          <p:cNvSpPr/>
          <p:nvPr/>
        </p:nvSpPr>
        <p:spPr>
          <a:xfrm>
            <a:off x="4307631" y="5092204"/>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DIMM-1</a:t>
            </a:r>
          </a:p>
        </p:txBody>
      </p:sp>
      <p:sp>
        <p:nvSpPr>
          <p:cNvPr id="9" name="Rectangle 8">
            <a:extLst>
              <a:ext uri="{FF2B5EF4-FFF2-40B4-BE49-F238E27FC236}">
                <a16:creationId xmlns:a16="http://schemas.microsoft.com/office/drawing/2014/main" id="{F986EEA5-A4C2-8D4C-B39F-C5E2541A646E}"/>
              </a:ext>
            </a:extLst>
          </p:cNvPr>
          <p:cNvSpPr/>
          <p:nvPr/>
        </p:nvSpPr>
        <p:spPr>
          <a:xfrm>
            <a:off x="6201746"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CPU-2</a:t>
            </a:r>
          </a:p>
        </p:txBody>
      </p:sp>
      <p:sp>
        <p:nvSpPr>
          <p:cNvPr id="10" name="Rectangle 9">
            <a:extLst>
              <a:ext uri="{FF2B5EF4-FFF2-40B4-BE49-F238E27FC236}">
                <a16:creationId xmlns:a16="http://schemas.microsoft.com/office/drawing/2014/main" id="{B801A358-4FE2-4148-BDC4-8EAAA42CB5D3}"/>
              </a:ext>
            </a:extLst>
          </p:cNvPr>
          <p:cNvSpPr/>
          <p:nvPr/>
        </p:nvSpPr>
        <p:spPr>
          <a:xfrm>
            <a:off x="6201745" y="5092204"/>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DIMM-2</a:t>
            </a:r>
          </a:p>
        </p:txBody>
      </p:sp>
      <p:sp>
        <p:nvSpPr>
          <p:cNvPr id="11" name="Rectangle 10">
            <a:extLst>
              <a:ext uri="{FF2B5EF4-FFF2-40B4-BE49-F238E27FC236}">
                <a16:creationId xmlns:a16="http://schemas.microsoft.com/office/drawing/2014/main" id="{EFB9A166-61E1-C042-BA63-FE01D7D63147}"/>
              </a:ext>
            </a:extLst>
          </p:cNvPr>
          <p:cNvSpPr/>
          <p:nvPr/>
        </p:nvSpPr>
        <p:spPr>
          <a:xfrm>
            <a:off x="8212498"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CPU-3</a:t>
            </a:r>
          </a:p>
        </p:txBody>
      </p:sp>
      <p:sp>
        <p:nvSpPr>
          <p:cNvPr id="12" name="Rectangle 11">
            <a:extLst>
              <a:ext uri="{FF2B5EF4-FFF2-40B4-BE49-F238E27FC236}">
                <a16:creationId xmlns:a16="http://schemas.microsoft.com/office/drawing/2014/main" id="{E7756866-43FD-7A42-8BB8-4D7EA114DBAB}"/>
              </a:ext>
            </a:extLst>
          </p:cNvPr>
          <p:cNvSpPr/>
          <p:nvPr/>
        </p:nvSpPr>
        <p:spPr>
          <a:xfrm>
            <a:off x="8212497" y="5092204"/>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DIMM-3</a:t>
            </a:r>
          </a:p>
        </p:txBody>
      </p:sp>
      <p:sp>
        <p:nvSpPr>
          <p:cNvPr id="5" name="Rectangle 4">
            <a:extLst>
              <a:ext uri="{FF2B5EF4-FFF2-40B4-BE49-F238E27FC236}">
                <a16:creationId xmlns:a16="http://schemas.microsoft.com/office/drawing/2014/main" id="{BFE2C03C-F698-FD46-95AB-29E6F2C29648}"/>
              </a:ext>
            </a:extLst>
          </p:cNvPr>
          <p:cNvSpPr/>
          <p:nvPr/>
        </p:nvSpPr>
        <p:spPr>
          <a:xfrm>
            <a:off x="6201745" y="3227011"/>
            <a:ext cx="1276737" cy="3461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Thread A </a:t>
            </a:r>
          </a:p>
        </p:txBody>
      </p:sp>
      <p:sp>
        <p:nvSpPr>
          <p:cNvPr id="13" name="Oval 12">
            <a:extLst>
              <a:ext uri="{FF2B5EF4-FFF2-40B4-BE49-F238E27FC236}">
                <a16:creationId xmlns:a16="http://schemas.microsoft.com/office/drawing/2014/main" id="{1AB76ACA-263D-654B-8E3B-26F732C19171}"/>
              </a:ext>
            </a:extLst>
          </p:cNvPr>
          <p:cNvSpPr/>
          <p:nvPr/>
        </p:nvSpPr>
        <p:spPr>
          <a:xfrm>
            <a:off x="6590731" y="6068291"/>
            <a:ext cx="498764" cy="498764"/>
          </a:xfrm>
          <a:prstGeom prst="ellipse">
            <a:avLst/>
          </a:prstGeom>
          <a:solidFill>
            <a:srgbClr val="2B007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1</a:t>
            </a:r>
          </a:p>
        </p:txBody>
      </p:sp>
      <p:sp>
        <p:nvSpPr>
          <p:cNvPr id="14" name="Oval 13">
            <a:extLst>
              <a:ext uri="{FF2B5EF4-FFF2-40B4-BE49-F238E27FC236}">
                <a16:creationId xmlns:a16="http://schemas.microsoft.com/office/drawing/2014/main" id="{151B3E96-DDB8-D849-A425-D3D7FCCB0B10}"/>
              </a:ext>
            </a:extLst>
          </p:cNvPr>
          <p:cNvSpPr/>
          <p:nvPr/>
        </p:nvSpPr>
        <p:spPr>
          <a:xfrm>
            <a:off x="8601483" y="6046200"/>
            <a:ext cx="498764" cy="498764"/>
          </a:xfrm>
          <a:prstGeom prst="ellipse">
            <a:avLst/>
          </a:prstGeom>
          <a:solidFill>
            <a:srgbClr val="2B007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2</a:t>
            </a:r>
          </a:p>
        </p:txBody>
      </p:sp>
      <p:sp>
        <p:nvSpPr>
          <p:cNvPr id="15" name="Oval 14">
            <a:extLst>
              <a:ext uri="{FF2B5EF4-FFF2-40B4-BE49-F238E27FC236}">
                <a16:creationId xmlns:a16="http://schemas.microsoft.com/office/drawing/2014/main" id="{FFD71738-9DAF-3441-B91E-97794D640C52}"/>
              </a:ext>
            </a:extLst>
          </p:cNvPr>
          <p:cNvSpPr/>
          <p:nvPr/>
        </p:nvSpPr>
        <p:spPr>
          <a:xfrm>
            <a:off x="2802503" y="6033573"/>
            <a:ext cx="498764" cy="498764"/>
          </a:xfrm>
          <a:prstGeom prst="ellipse">
            <a:avLst/>
          </a:prstGeom>
          <a:solidFill>
            <a:srgbClr val="2B007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3</a:t>
            </a:r>
          </a:p>
        </p:txBody>
      </p:sp>
      <p:sp>
        <p:nvSpPr>
          <p:cNvPr id="16" name="Oval 15">
            <a:extLst>
              <a:ext uri="{FF2B5EF4-FFF2-40B4-BE49-F238E27FC236}">
                <a16:creationId xmlns:a16="http://schemas.microsoft.com/office/drawing/2014/main" id="{6668E7E9-027D-8D49-9BAE-92E49BA509AA}"/>
              </a:ext>
            </a:extLst>
          </p:cNvPr>
          <p:cNvSpPr/>
          <p:nvPr/>
        </p:nvSpPr>
        <p:spPr>
          <a:xfrm>
            <a:off x="4740162" y="6033573"/>
            <a:ext cx="498764" cy="498764"/>
          </a:xfrm>
          <a:prstGeom prst="ellipse">
            <a:avLst/>
          </a:prstGeom>
          <a:solidFill>
            <a:srgbClr val="2B007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KR" dirty="0"/>
              <a:t>4</a:t>
            </a:r>
          </a:p>
        </p:txBody>
      </p:sp>
    </p:spTree>
    <p:extLst>
      <p:ext uri="{BB962C8B-B14F-4D97-AF65-F5344CB8AC3E}">
        <p14:creationId xmlns:p14="http://schemas.microsoft.com/office/powerpoint/2010/main" val="2200857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mph" presetSubtype="2" fill="hold" nodeType="withEffect">
                                  <p:stCondLst>
                                    <p:cond delay="0"/>
                                  </p:stCondLst>
                                  <p:childTnLst>
                                    <p:animClr clrSpc="rgb" dir="cw">
                                      <p:cBhvr>
                                        <p:cTn id="8" dur="500" fill="hold"/>
                                        <p:tgtEl>
                                          <p:spTgt spid="10"/>
                                        </p:tgtEl>
                                        <p:attrNameLst>
                                          <p:attrName>fillcolor</p:attrName>
                                        </p:attrNameLst>
                                      </p:cBhvr>
                                      <p:to>
                                        <a:srgbClr val="FF2600"/>
                                      </p:to>
                                    </p:animClr>
                                    <p:set>
                                      <p:cBhvr>
                                        <p:cTn id="9" dur="500" fill="hold"/>
                                        <p:tgtEl>
                                          <p:spTgt spid="10"/>
                                        </p:tgtEl>
                                        <p:attrNameLst>
                                          <p:attrName>fill.type</p:attrName>
                                        </p:attrNameLst>
                                      </p:cBhvr>
                                      <p:to>
                                        <p:strVal val="solid"/>
                                      </p:to>
                                    </p:set>
                                    <p:set>
                                      <p:cBhvr>
                                        <p:cTn id="10" dur="500" fill="hold"/>
                                        <p:tgtEl>
                                          <p:spTgt spid="10"/>
                                        </p:tgtEl>
                                        <p:attrNameLst>
                                          <p:attrName>fill.on</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mph" presetSubtype="2" fill="hold" nodeType="withEffect">
                                  <p:stCondLst>
                                    <p:cond delay="0"/>
                                  </p:stCondLst>
                                  <p:childTnLst>
                                    <p:animClr clrSpc="rgb" dir="cw">
                                      <p:cBhvr>
                                        <p:cTn id="16" dur="500" fill="hold"/>
                                        <p:tgtEl>
                                          <p:spTgt spid="12"/>
                                        </p:tgtEl>
                                        <p:attrNameLst>
                                          <p:attrName>fillcolor</p:attrName>
                                        </p:attrNameLst>
                                      </p:cBhvr>
                                      <p:to>
                                        <a:srgbClr val="FF9300"/>
                                      </p:to>
                                    </p:animClr>
                                    <p:set>
                                      <p:cBhvr>
                                        <p:cTn id="17" dur="500" fill="hold"/>
                                        <p:tgtEl>
                                          <p:spTgt spid="12"/>
                                        </p:tgtEl>
                                        <p:attrNameLst>
                                          <p:attrName>fill.type</p:attrName>
                                        </p:attrNameLst>
                                      </p:cBhvr>
                                      <p:to>
                                        <p:strVal val="solid"/>
                                      </p:to>
                                    </p:set>
                                    <p:set>
                                      <p:cBhvr>
                                        <p:cTn id="18" dur="500" fill="hold"/>
                                        <p:tgtEl>
                                          <p:spTgt spid="12"/>
                                        </p:tgtEl>
                                        <p:attrNameLst>
                                          <p:attrName>fill.on</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mph" presetSubtype="2" fill="hold" nodeType="withEffect">
                                  <p:stCondLst>
                                    <p:cond delay="0"/>
                                  </p:stCondLst>
                                  <p:childTnLst>
                                    <p:animClr clrSpc="rgb" dir="cw">
                                      <p:cBhvr>
                                        <p:cTn id="24" dur="500" fill="hold"/>
                                        <p:tgtEl>
                                          <p:spTgt spid="6"/>
                                        </p:tgtEl>
                                        <p:attrNameLst>
                                          <p:attrName>fillcolor</p:attrName>
                                        </p:attrNameLst>
                                      </p:cBhvr>
                                      <p:to>
                                        <a:srgbClr val="8EFA00"/>
                                      </p:to>
                                    </p:animClr>
                                    <p:set>
                                      <p:cBhvr>
                                        <p:cTn id="25" dur="500" fill="hold"/>
                                        <p:tgtEl>
                                          <p:spTgt spid="6"/>
                                        </p:tgtEl>
                                        <p:attrNameLst>
                                          <p:attrName>fill.type</p:attrName>
                                        </p:attrNameLst>
                                      </p:cBhvr>
                                      <p:to>
                                        <p:strVal val="solid"/>
                                      </p:to>
                                    </p:set>
                                    <p:set>
                                      <p:cBhvr>
                                        <p:cTn id="26" dur="500" fill="hold"/>
                                        <p:tgtEl>
                                          <p:spTgt spid="6"/>
                                        </p:tgtEl>
                                        <p:attrNameLst>
                                          <p:attrName>fill.on</p:attrName>
                                        </p:attrNameLst>
                                      </p:cBhvr>
                                      <p:to>
                                        <p:strVal val="tru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mph" presetSubtype="2" fill="hold" nodeType="withEffect">
                                  <p:stCondLst>
                                    <p:cond delay="0"/>
                                  </p:stCondLst>
                                  <p:childTnLst>
                                    <p:animClr clrSpc="rgb" dir="cw">
                                      <p:cBhvr>
                                        <p:cTn id="32" dur="500" fill="hold"/>
                                        <p:tgtEl>
                                          <p:spTgt spid="8"/>
                                        </p:tgtEl>
                                        <p:attrNameLst>
                                          <p:attrName>fillcolor</p:attrName>
                                        </p:attrNameLst>
                                      </p:cBhvr>
                                      <p:to>
                                        <a:srgbClr val="0432FF"/>
                                      </p:to>
                                    </p:animClr>
                                    <p:set>
                                      <p:cBhvr>
                                        <p:cTn id="33" dur="500" fill="hold"/>
                                        <p:tgtEl>
                                          <p:spTgt spid="8"/>
                                        </p:tgtEl>
                                        <p:attrNameLst>
                                          <p:attrName>fill.type</p:attrName>
                                        </p:attrNameLst>
                                      </p:cBhvr>
                                      <p:to>
                                        <p:strVal val="solid"/>
                                      </p:to>
                                    </p:set>
                                    <p:set>
                                      <p:cBhvr>
                                        <p:cTn id="34" dur="500" fill="hold"/>
                                        <p:tgtEl>
                                          <p:spTgt spid="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1847E-DDFA-494C-9345-F6E89486B41D}"/>
              </a:ext>
            </a:extLst>
          </p:cNvPr>
          <p:cNvSpPr>
            <a:spLocks noGrp="1"/>
          </p:cNvSpPr>
          <p:nvPr>
            <p:ph type="title"/>
          </p:nvPr>
        </p:nvSpPr>
        <p:spPr/>
        <p:txBody>
          <a:bodyPr/>
          <a:lstStyle/>
          <a:p>
            <a:r>
              <a:rPr lang="en-KR" dirty="0"/>
              <a:t>Our insight</a:t>
            </a:r>
          </a:p>
        </p:txBody>
      </p:sp>
      <p:sp>
        <p:nvSpPr>
          <p:cNvPr id="3" name="Content Placeholder 2">
            <a:extLst>
              <a:ext uri="{FF2B5EF4-FFF2-40B4-BE49-F238E27FC236}">
                <a16:creationId xmlns:a16="http://schemas.microsoft.com/office/drawing/2014/main" id="{8FFF89A2-007D-1B42-A314-538AE303A2C8}"/>
              </a:ext>
            </a:extLst>
          </p:cNvPr>
          <p:cNvSpPr>
            <a:spLocks noGrp="1"/>
          </p:cNvSpPr>
          <p:nvPr>
            <p:ph idx="1"/>
          </p:nvPr>
        </p:nvSpPr>
        <p:spPr/>
        <p:txBody>
          <a:bodyPr/>
          <a:lstStyle/>
          <a:p>
            <a:pPr marL="514350" indent="-514350">
              <a:buFont typeface="+mj-lt"/>
              <a:buAutoNum type="arabicPeriod"/>
            </a:pPr>
            <a:r>
              <a:rPr lang="en-KR" dirty="0"/>
              <a:t>Existing systems do not exploit diverse memory path (path diversity)</a:t>
            </a:r>
          </a:p>
          <a:p>
            <a:pPr lvl="1"/>
            <a:r>
              <a:rPr lang="en-US" dirty="0"/>
              <a:t>A</a:t>
            </a:r>
            <a:r>
              <a:rPr lang="en-KR" dirty="0"/>
              <a:t>ll remote latency is almost the same</a:t>
            </a:r>
            <a:endParaRPr lang="en-US" dirty="0"/>
          </a:p>
          <a:p>
            <a:pPr lvl="1"/>
            <a:r>
              <a:rPr lang="en-US" dirty="0"/>
              <a:t>Static Linux’s fallback node list</a:t>
            </a:r>
            <a:endParaRPr lang="en-KR" dirty="0"/>
          </a:p>
          <a:p>
            <a:pPr marL="514350" indent="-514350">
              <a:buFont typeface="+mj-lt"/>
              <a:buAutoNum type="arabicPeriod"/>
            </a:pPr>
            <a:endParaRPr lang="en-KR" dirty="0"/>
          </a:p>
          <a:p>
            <a:pPr marL="514350" indent="-514350">
              <a:buFont typeface="+mj-lt"/>
              <a:buAutoNum type="arabicPeriod"/>
            </a:pPr>
            <a:r>
              <a:rPr lang="en-KR" dirty="0"/>
              <a:t>Existing memory placement causes unintended interference</a:t>
            </a:r>
          </a:p>
          <a:p>
            <a:pPr lvl="1"/>
            <a:r>
              <a:rPr lang="en-KR" dirty="0"/>
              <a:t>Multiple applications would use the same memory node</a:t>
            </a:r>
          </a:p>
        </p:txBody>
      </p:sp>
    </p:spTree>
    <p:extLst>
      <p:ext uri="{BB962C8B-B14F-4D97-AF65-F5344CB8AC3E}">
        <p14:creationId xmlns:p14="http://schemas.microsoft.com/office/powerpoint/2010/main" val="2536465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DDA94-CD3A-654C-A717-B38BE92C917C}"/>
              </a:ext>
            </a:extLst>
          </p:cNvPr>
          <p:cNvSpPr>
            <a:spLocks noGrp="1"/>
          </p:cNvSpPr>
          <p:nvPr>
            <p:ph type="title"/>
          </p:nvPr>
        </p:nvSpPr>
        <p:spPr/>
        <p:txBody>
          <a:bodyPr/>
          <a:lstStyle/>
          <a:p>
            <a:r>
              <a:rPr lang="en-KR" dirty="0"/>
              <a:t>Memory interference</a:t>
            </a:r>
          </a:p>
        </p:txBody>
      </p:sp>
      <p:sp>
        <p:nvSpPr>
          <p:cNvPr id="3" name="Content Placeholder 2">
            <a:extLst>
              <a:ext uri="{FF2B5EF4-FFF2-40B4-BE49-F238E27FC236}">
                <a16:creationId xmlns:a16="http://schemas.microsoft.com/office/drawing/2014/main" id="{264E5919-9B02-5F43-9534-FC17D61FF407}"/>
              </a:ext>
            </a:extLst>
          </p:cNvPr>
          <p:cNvSpPr>
            <a:spLocks noGrp="1"/>
          </p:cNvSpPr>
          <p:nvPr>
            <p:ph idx="1"/>
          </p:nvPr>
        </p:nvSpPr>
        <p:spPr/>
        <p:txBody>
          <a:bodyPr/>
          <a:lstStyle/>
          <a:p>
            <a:r>
              <a:rPr lang="en-KR" dirty="0"/>
              <a:t>For example, two applications are running</a:t>
            </a:r>
          </a:p>
          <a:p>
            <a:pPr lvl="1"/>
            <a:r>
              <a:rPr lang="en-KR" dirty="0"/>
              <a:t>App A uses DIMM-0 &amp; DIMM-1</a:t>
            </a:r>
          </a:p>
          <a:p>
            <a:pPr lvl="1"/>
            <a:r>
              <a:rPr lang="en-KR" dirty="0"/>
              <a:t>App B uses DIMM-1</a:t>
            </a:r>
          </a:p>
        </p:txBody>
      </p:sp>
      <p:sp>
        <p:nvSpPr>
          <p:cNvPr id="4" name="Rectangle 3">
            <a:extLst>
              <a:ext uri="{FF2B5EF4-FFF2-40B4-BE49-F238E27FC236}">
                <a16:creationId xmlns:a16="http://schemas.microsoft.com/office/drawing/2014/main" id="{0C07543D-B89D-6445-ABC4-42FE0AD6A118}"/>
              </a:ext>
            </a:extLst>
          </p:cNvPr>
          <p:cNvSpPr/>
          <p:nvPr/>
        </p:nvSpPr>
        <p:spPr>
          <a:xfrm>
            <a:off x="2413518"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CPU-0</a:t>
            </a:r>
          </a:p>
        </p:txBody>
      </p:sp>
      <p:sp>
        <p:nvSpPr>
          <p:cNvPr id="5" name="Rectangle 4">
            <a:extLst>
              <a:ext uri="{FF2B5EF4-FFF2-40B4-BE49-F238E27FC236}">
                <a16:creationId xmlns:a16="http://schemas.microsoft.com/office/drawing/2014/main" id="{32E9008E-43D5-7343-8506-60BB9DDAACF7}"/>
              </a:ext>
            </a:extLst>
          </p:cNvPr>
          <p:cNvSpPr/>
          <p:nvPr/>
        </p:nvSpPr>
        <p:spPr>
          <a:xfrm>
            <a:off x="2413517" y="5092204"/>
            <a:ext cx="1276737" cy="785514"/>
          </a:xfrm>
          <a:prstGeom prst="rect">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DIMM-0</a:t>
            </a:r>
          </a:p>
        </p:txBody>
      </p:sp>
      <p:sp>
        <p:nvSpPr>
          <p:cNvPr id="6" name="Rectangle 5">
            <a:extLst>
              <a:ext uri="{FF2B5EF4-FFF2-40B4-BE49-F238E27FC236}">
                <a16:creationId xmlns:a16="http://schemas.microsoft.com/office/drawing/2014/main" id="{1402D5B3-F9BD-CC4E-9997-654299A86C70}"/>
              </a:ext>
            </a:extLst>
          </p:cNvPr>
          <p:cNvSpPr/>
          <p:nvPr/>
        </p:nvSpPr>
        <p:spPr>
          <a:xfrm>
            <a:off x="4307632"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CPU-1</a:t>
            </a:r>
          </a:p>
        </p:txBody>
      </p:sp>
      <p:sp>
        <p:nvSpPr>
          <p:cNvPr id="7" name="Rectangle 6">
            <a:extLst>
              <a:ext uri="{FF2B5EF4-FFF2-40B4-BE49-F238E27FC236}">
                <a16:creationId xmlns:a16="http://schemas.microsoft.com/office/drawing/2014/main" id="{AE7003A3-8063-7140-AE08-AF3E42DC7690}"/>
              </a:ext>
            </a:extLst>
          </p:cNvPr>
          <p:cNvSpPr/>
          <p:nvPr/>
        </p:nvSpPr>
        <p:spPr>
          <a:xfrm>
            <a:off x="4307631" y="5092204"/>
            <a:ext cx="1276737" cy="785514"/>
          </a:xfrm>
          <a:prstGeom prst="rect">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DIMM-1</a:t>
            </a:r>
          </a:p>
        </p:txBody>
      </p:sp>
      <p:sp>
        <p:nvSpPr>
          <p:cNvPr id="8" name="Rectangle 7">
            <a:extLst>
              <a:ext uri="{FF2B5EF4-FFF2-40B4-BE49-F238E27FC236}">
                <a16:creationId xmlns:a16="http://schemas.microsoft.com/office/drawing/2014/main" id="{719A139D-2B16-524C-BB67-E8D14AA2757C}"/>
              </a:ext>
            </a:extLst>
          </p:cNvPr>
          <p:cNvSpPr/>
          <p:nvPr/>
        </p:nvSpPr>
        <p:spPr>
          <a:xfrm>
            <a:off x="6201746"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CPU-2</a:t>
            </a:r>
          </a:p>
        </p:txBody>
      </p:sp>
      <p:sp>
        <p:nvSpPr>
          <p:cNvPr id="9" name="Rectangle 8">
            <a:extLst>
              <a:ext uri="{FF2B5EF4-FFF2-40B4-BE49-F238E27FC236}">
                <a16:creationId xmlns:a16="http://schemas.microsoft.com/office/drawing/2014/main" id="{B74BC506-F0D5-0542-8874-7BBB2D29D644}"/>
              </a:ext>
            </a:extLst>
          </p:cNvPr>
          <p:cNvSpPr/>
          <p:nvPr/>
        </p:nvSpPr>
        <p:spPr>
          <a:xfrm>
            <a:off x="6201745" y="5092204"/>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DIMM-2</a:t>
            </a:r>
          </a:p>
        </p:txBody>
      </p:sp>
      <p:sp>
        <p:nvSpPr>
          <p:cNvPr id="10" name="Rectangle 9">
            <a:extLst>
              <a:ext uri="{FF2B5EF4-FFF2-40B4-BE49-F238E27FC236}">
                <a16:creationId xmlns:a16="http://schemas.microsoft.com/office/drawing/2014/main" id="{6106D2B1-B096-1F4C-959E-9C1D525F23C1}"/>
              </a:ext>
            </a:extLst>
          </p:cNvPr>
          <p:cNvSpPr/>
          <p:nvPr/>
        </p:nvSpPr>
        <p:spPr>
          <a:xfrm>
            <a:off x="8212498"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CPU-3</a:t>
            </a:r>
          </a:p>
        </p:txBody>
      </p:sp>
      <p:sp>
        <p:nvSpPr>
          <p:cNvPr id="11" name="Rectangle 10">
            <a:extLst>
              <a:ext uri="{FF2B5EF4-FFF2-40B4-BE49-F238E27FC236}">
                <a16:creationId xmlns:a16="http://schemas.microsoft.com/office/drawing/2014/main" id="{76132A6B-8E5C-AC46-82B1-C20D99B4A786}"/>
              </a:ext>
            </a:extLst>
          </p:cNvPr>
          <p:cNvSpPr/>
          <p:nvPr/>
        </p:nvSpPr>
        <p:spPr>
          <a:xfrm>
            <a:off x="8212497" y="5092204"/>
            <a:ext cx="1276737" cy="78551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DIMM-3</a:t>
            </a:r>
          </a:p>
        </p:txBody>
      </p:sp>
      <p:sp>
        <p:nvSpPr>
          <p:cNvPr id="12" name="Rectangle 11">
            <a:extLst>
              <a:ext uri="{FF2B5EF4-FFF2-40B4-BE49-F238E27FC236}">
                <a16:creationId xmlns:a16="http://schemas.microsoft.com/office/drawing/2014/main" id="{7A634EA6-CF25-834C-9E13-D5BE677965D9}"/>
              </a:ext>
            </a:extLst>
          </p:cNvPr>
          <p:cNvSpPr/>
          <p:nvPr/>
        </p:nvSpPr>
        <p:spPr>
          <a:xfrm>
            <a:off x="2413517" y="3254829"/>
            <a:ext cx="1276737" cy="3461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App A </a:t>
            </a:r>
          </a:p>
        </p:txBody>
      </p:sp>
      <p:sp>
        <p:nvSpPr>
          <p:cNvPr id="17" name="Rectangle 16">
            <a:extLst>
              <a:ext uri="{FF2B5EF4-FFF2-40B4-BE49-F238E27FC236}">
                <a16:creationId xmlns:a16="http://schemas.microsoft.com/office/drawing/2014/main" id="{73B54B5D-AF68-6542-BFA1-AC5BF313A642}"/>
              </a:ext>
            </a:extLst>
          </p:cNvPr>
          <p:cNvSpPr/>
          <p:nvPr/>
        </p:nvSpPr>
        <p:spPr>
          <a:xfrm>
            <a:off x="4307630" y="3254829"/>
            <a:ext cx="1276737" cy="3461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App B </a:t>
            </a:r>
          </a:p>
        </p:txBody>
      </p:sp>
      <p:sp>
        <p:nvSpPr>
          <p:cNvPr id="18" name="Rectangle 17">
            <a:extLst>
              <a:ext uri="{FF2B5EF4-FFF2-40B4-BE49-F238E27FC236}">
                <a16:creationId xmlns:a16="http://schemas.microsoft.com/office/drawing/2014/main" id="{E6474610-D8ED-BF46-9BDB-3FB068B4BDF6}"/>
              </a:ext>
            </a:extLst>
          </p:cNvPr>
          <p:cNvSpPr/>
          <p:nvPr/>
        </p:nvSpPr>
        <p:spPr>
          <a:xfrm>
            <a:off x="4307630" y="5092204"/>
            <a:ext cx="650133" cy="785514"/>
          </a:xfrm>
          <a:prstGeom prst="rect">
            <a:avLst/>
          </a:prstGeom>
          <a:solidFill>
            <a:srgbClr val="C00000">
              <a:alpha val="88000"/>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2400" dirty="0">
              <a:solidFill>
                <a:schemeClr val="tx1"/>
              </a:solidFill>
            </a:endParaRPr>
          </a:p>
        </p:txBody>
      </p:sp>
      <p:sp>
        <p:nvSpPr>
          <p:cNvPr id="21" name="Rectangle 20">
            <a:extLst>
              <a:ext uri="{FF2B5EF4-FFF2-40B4-BE49-F238E27FC236}">
                <a16:creationId xmlns:a16="http://schemas.microsoft.com/office/drawing/2014/main" id="{1738B778-F328-4F4D-8E70-A07A65FAED28}"/>
              </a:ext>
            </a:extLst>
          </p:cNvPr>
          <p:cNvSpPr/>
          <p:nvPr/>
        </p:nvSpPr>
        <p:spPr>
          <a:xfrm>
            <a:off x="3948014" y="4778714"/>
            <a:ext cx="1920523" cy="1412494"/>
          </a:xfrm>
          <a:custGeom>
            <a:avLst/>
            <a:gdLst>
              <a:gd name="connsiteX0" fmla="*/ 0 w 1920523"/>
              <a:gd name="connsiteY0" fmla="*/ 0 h 1412494"/>
              <a:gd name="connsiteX1" fmla="*/ 480131 w 1920523"/>
              <a:gd name="connsiteY1" fmla="*/ 0 h 1412494"/>
              <a:gd name="connsiteX2" fmla="*/ 979467 w 1920523"/>
              <a:gd name="connsiteY2" fmla="*/ 0 h 1412494"/>
              <a:gd name="connsiteX3" fmla="*/ 1421187 w 1920523"/>
              <a:gd name="connsiteY3" fmla="*/ 0 h 1412494"/>
              <a:gd name="connsiteX4" fmla="*/ 1920523 w 1920523"/>
              <a:gd name="connsiteY4" fmla="*/ 0 h 1412494"/>
              <a:gd name="connsiteX5" fmla="*/ 1920523 w 1920523"/>
              <a:gd name="connsiteY5" fmla="*/ 428457 h 1412494"/>
              <a:gd name="connsiteX6" fmla="*/ 1920523 w 1920523"/>
              <a:gd name="connsiteY6" fmla="*/ 885163 h 1412494"/>
              <a:gd name="connsiteX7" fmla="*/ 1920523 w 1920523"/>
              <a:gd name="connsiteY7" fmla="*/ 1412494 h 1412494"/>
              <a:gd name="connsiteX8" fmla="*/ 1459597 w 1920523"/>
              <a:gd name="connsiteY8" fmla="*/ 1412494 h 1412494"/>
              <a:gd name="connsiteX9" fmla="*/ 1037082 w 1920523"/>
              <a:gd name="connsiteY9" fmla="*/ 1412494 h 1412494"/>
              <a:gd name="connsiteX10" fmla="*/ 518541 w 1920523"/>
              <a:gd name="connsiteY10" fmla="*/ 1412494 h 1412494"/>
              <a:gd name="connsiteX11" fmla="*/ 0 w 1920523"/>
              <a:gd name="connsiteY11" fmla="*/ 1412494 h 1412494"/>
              <a:gd name="connsiteX12" fmla="*/ 0 w 1920523"/>
              <a:gd name="connsiteY12" fmla="*/ 941663 h 1412494"/>
              <a:gd name="connsiteX13" fmla="*/ 0 w 1920523"/>
              <a:gd name="connsiteY13" fmla="*/ 513206 h 1412494"/>
              <a:gd name="connsiteX14" fmla="*/ 0 w 1920523"/>
              <a:gd name="connsiteY14" fmla="*/ 0 h 1412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20523" h="1412494" extrusionOk="0">
                <a:moveTo>
                  <a:pt x="0" y="0"/>
                </a:moveTo>
                <a:cubicBezTo>
                  <a:pt x="118608" y="-57525"/>
                  <a:pt x="380069" y="6182"/>
                  <a:pt x="480131" y="0"/>
                </a:cubicBezTo>
                <a:cubicBezTo>
                  <a:pt x="580193" y="-6182"/>
                  <a:pt x="868089" y="9040"/>
                  <a:pt x="979467" y="0"/>
                </a:cubicBezTo>
                <a:cubicBezTo>
                  <a:pt x="1090845" y="-9040"/>
                  <a:pt x="1219797" y="23901"/>
                  <a:pt x="1421187" y="0"/>
                </a:cubicBezTo>
                <a:cubicBezTo>
                  <a:pt x="1622577" y="-23901"/>
                  <a:pt x="1693831" y="11304"/>
                  <a:pt x="1920523" y="0"/>
                </a:cubicBezTo>
                <a:cubicBezTo>
                  <a:pt x="1922065" y="160716"/>
                  <a:pt x="1907564" y="288606"/>
                  <a:pt x="1920523" y="428457"/>
                </a:cubicBezTo>
                <a:cubicBezTo>
                  <a:pt x="1933482" y="568308"/>
                  <a:pt x="1874536" y="761339"/>
                  <a:pt x="1920523" y="885163"/>
                </a:cubicBezTo>
                <a:cubicBezTo>
                  <a:pt x="1966510" y="1008987"/>
                  <a:pt x="1895895" y="1228368"/>
                  <a:pt x="1920523" y="1412494"/>
                </a:cubicBezTo>
                <a:cubicBezTo>
                  <a:pt x="1814653" y="1444311"/>
                  <a:pt x="1621458" y="1411435"/>
                  <a:pt x="1459597" y="1412494"/>
                </a:cubicBezTo>
                <a:cubicBezTo>
                  <a:pt x="1297736" y="1413553"/>
                  <a:pt x="1187468" y="1379686"/>
                  <a:pt x="1037082" y="1412494"/>
                </a:cubicBezTo>
                <a:cubicBezTo>
                  <a:pt x="886696" y="1445302"/>
                  <a:pt x="701590" y="1387575"/>
                  <a:pt x="518541" y="1412494"/>
                </a:cubicBezTo>
                <a:cubicBezTo>
                  <a:pt x="335492" y="1437413"/>
                  <a:pt x="181089" y="1361301"/>
                  <a:pt x="0" y="1412494"/>
                </a:cubicBezTo>
                <a:cubicBezTo>
                  <a:pt x="-41591" y="1295448"/>
                  <a:pt x="46433" y="1079727"/>
                  <a:pt x="0" y="941663"/>
                </a:cubicBezTo>
                <a:cubicBezTo>
                  <a:pt x="-46433" y="803599"/>
                  <a:pt x="17032" y="657827"/>
                  <a:pt x="0" y="513206"/>
                </a:cubicBezTo>
                <a:cubicBezTo>
                  <a:pt x="-17032" y="368585"/>
                  <a:pt x="54681" y="137153"/>
                  <a:pt x="0" y="0"/>
                </a:cubicBezTo>
                <a:close/>
              </a:path>
            </a:pathLst>
          </a:custGeom>
          <a:noFill/>
          <a:ln w="57150">
            <a:solidFill>
              <a:srgbClr val="C00000"/>
            </a:solidFill>
            <a:extLst>
              <a:ext uri="{C807C97D-BFC1-408E-A445-0C87EB9F89A2}">
                <ask:lineSketchStyleProps xmlns:ask="http://schemas.microsoft.com/office/drawing/2018/sketchyshapes" sd="3646559756">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cxnSp>
        <p:nvCxnSpPr>
          <p:cNvPr id="24" name="Straight Arrow Connector 23">
            <a:extLst>
              <a:ext uri="{FF2B5EF4-FFF2-40B4-BE49-F238E27FC236}">
                <a16:creationId xmlns:a16="http://schemas.microsoft.com/office/drawing/2014/main" id="{EE12A998-A8CA-5946-A0FC-6C96948E2FFA}"/>
              </a:ext>
            </a:extLst>
          </p:cNvPr>
          <p:cNvCxnSpPr>
            <a:cxnSpLocks/>
            <a:stCxn id="21" idx="0"/>
            <a:endCxn id="26" idx="1"/>
          </p:cNvCxnSpPr>
          <p:nvPr/>
        </p:nvCxnSpPr>
        <p:spPr>
          <a:xfrm flipV="1">
            <a:off x="4908276" y="1756925"/>
            <a:ext cx="3640420" cy="302178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8E84A6D-7005-A942-97FB-5367CAB9C92B}"/>
              </a:ext>
            </a:extLst>
          </p:cNvPr>
          <p:cNvSpPr txBox="1"/>
          <p:nvPr/>
        </p:nvSpPr>
        <p:spPr>
          <a:xfrm>
            <a:off x="8548696" y="1526092"/>
            <a:ext cx="3341136" cy="461665"/>
          </a:xfrm>
          <a:prstGeom prst="rect">
            <a:avLst/>
          </a:prstGeom>
          <a:noFill/>
        </p:spPr>
        <p:txBody>
          <a:bodyPr wrap="square" rtlCol="0">
            <a:spAutoFit/>
          </a:bodyPr>
          <a:lstStyle/>
          <a:p>
            <a:r>
              <a:rPr lang="en-KR" sz="2400" dirty="0"/>
              <a:t>1. Memory Interference</a:t>
            </a:r>
          </a:p>
        </p:txBody>
      </p:sp>
      <p:sp>
        <p:nvSpPr>
          <p:cNvPr id="29" name="Rectangle 28">
            <a:extLst>
              <a:ext uri="{FF2B5EF4-FFF2-40B4-BE49-F238E27FC236}">
                <a16:creationId xmlns:a16="http://schemas.microsoft.com/office/drawing/2014/main" id="{8532EAEC-6E1B-014C-ADE8-27FE4BFAEEDE}"/>
              </a:ext>
            </a:extLst>
          </p:cNvPr>
          <p:cNvSpPr/>
          <p:nvPr/>
        </p:nvSpPr>
        <p:spPr>
          <a:xfrm>
            <a:off x="6046670" y="4778714"/>
            <a:ext cx="3731812" cy="1412494"/>
          </a:xfrm>
          <a:custGeom>
            <a:avLst/>
            <a:gdLst>
              <a:gd name="connsiteX0" fmla="*/ 0 w 3731812"/>
              <a:gd name="connsiteY0" fmla="*/ 0 h 1412494"/>
              <a:gd name="connsiteX1" fmla="*/ 533116 w 3731812"/>
              <a:gd name="connsiteY1" fmla="*/ 0 h 1412494"/>
              <a:gd name="connsiteX2" fmla="*/ 1103550 w 3731812"/>
              <a:gd name="connsiteY2" fmla="*/ 0 h 1412494"/>
              <a:gd name="connsiteX3" fmla="*/ 1562030 w 3731812"/>
              <a:gd name="connsiteY3" fmla="*/ 0 h 1412494"/>
              <a:gd name="connsiteX4" fmla="*/ 2132464 w 3731812"/>
              <a:gd name="connsiteY4" fmla="*/ 0 h 1412494"/>
              <a:gd name="connsiteX5" fmla="*/ 2553626 w 3731812"/>
              <a:gd name="connsiteY5" fmla="*/ 0 h 1412494"/>
              <a:gd name="connsiteX6" fmla="*/ 3049424 w 3731812"/>
              <a:gd name="connsiteY6" fmla="*/ 0 h 1412494"/>
              <a:gd name="connsiteX7" fmla="*/ 3731812 w 3731812"/>
              <a:gd name="connsiteY7" fmla="*/ 0 h 1412494"/>
              <a:gd name="connsiteX8" fmla="*/ 3731812 w 3731812"/>
              <a:gd name="connsiteY8" fmla="*/ 499081 h 1412494"/>
              <a:gd name="connsiteX9" fmla="*/ 3731812 w 3731812"/>
              <a:gd name="connsiteY9" fmla="*/ 984037 h 1412494"/>
              <a:gd name="connsiteX10" fmla="*/ 3731812 w 3731812"/>
              <a:gd name="connsiteY10" fmla="*/ 1412494 h 1412494"/>
              <a:gd name="connsiteX11" fmla="*/ 3161378 w 3731812"/>
              <a:gd name="connsiteY11" fmla="*/ 1412494 h 1412494"/>
              <a:gd name="connsiteX12" fmla="*/ 2628262 w 3731812"/>
              <a:gd name="connsiteY12" fmla="*/ 1412494 h 1412494"/>
              <a:gd name="connsiteX13" fmla="*/ 2020510 w 3731812"/>
              <a:gd name="connsiteY13" fmla="*/ 1412494 h 1412494"/>
              <a:gd name="connsiteX14" fmla="*/ 1562030 w 3731812"/>
              <a:gd name="connsiteY14" fmla="*/ 1412494 h 1412494"/>
              <a:gd name="connsiteX15" fmla="*/ 1103550 w 3731812"/>
              <a:gd name="connsiteY15" fmla="*/ 1412494 h 1412494"/>
              <a:gd name="connsiteX16" fmla="*/ 570434 w 3731812"/>
              <a:gd name="connsiteY16" fmla="*/ 1412494 h 1412494"/>
              <a:gd name="connsiteX17" fmla="*/ 0 w 3731812"/>
              <a:gd name="connsiteY17" fmla="*/ 1412494 h 1412494"/>
              <a:gd name="connsiteX18" fmla="*/ 0 w 3731812"/>
              <a:gd name="connsiteY18" fmla="*/ 955788 h 1412494"/>
              <a:gd name="connsiteX19" fmla="*/ 0 w 3731812"/>
              <a:gd name="connsiteY19" fmla="*/ 470831 h 1412494"/>
              <a:gd name="connsiteX20" fmla="*/ 0 w 3731812"/>
              <a:gd name="connsiteY20" fmla="*/ 0 h 1412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731812" h="1412494" extrusionOk="0">
                <a:moveTo>
                  <a:pt x="0" y="0"/>
                </a:moveTo>
                <a:cubicBezTo>
                  <a:pt x="144244" y="-46030"/>
                  <a:pt x="318545" y="62878"/>
                  <a:pt x="533116" y="0"/>
                </a:cubicBezTo>
                <a:cubicBezTo>
                  <a:pt x="747687" y="-62878"/>
                  <a:pt x="983869" y="12263"/>
                  <a:pt x="1103550" y="0"/>
                </a:cubicBezTo>
                <a:cubicBezTo>
                  <a:pt x="1223231" y="-12263"/>
                  <a:pt x="1456276" y="20872"/>
                  <a:pt x="1562030" y="0"/>
                </a:cubicBezTo>
                <a:cubicBezTo>
                  <a:pt x="1667784" y="-20872"/>
                  <a:pt x="1925695" y="24103"/>
                  <a:pt x="2132464" y="0"/>
                </a:cubicBezTo>
                <a:cubicBezTo>
                  <a:pt x="2339233" y="-24103"/>
                  <a:pt x="2395840" y="8924"/>
                  <a:pt x="2553626" y="0"/>
                </a:cubicBezTo>
                <a:cubicBezTo>
                  <a:pt x="2711412" y="-8924"/>
                  <a:pt x="2933328" y="4298"/>
                  <a:pt x="3049424" y="0"/>
                </a:cubicBezTo>
                <a:cubicBezTo>
                  <a:pt x="3165520" y="-4298"/>
                  <a:pt x="3443671" y="23228"/>
                  <a:pt x="3731812" y="0"/>
                </a:cubicBezTo>
                <a:cubicBezTo>
                  <a:pt x="3775119" y="204838"/>
                  <a:pt x="3714699" y="329904"/>
                  <a:pt x="3731812" y="499081"/>
                </a:cubicBezTo>
                <a:cubicBezTo>
                  <a:pt x="3748925" y="668258"/>
                  <a:pt x="3710815" y="770629"/>
                  <a:pt x="3731812" y="984037"/>
                </a:cubicBezTo>
                <a:cubicBezTo>
                  <a:pt x="3752809" y="1197445"/>
                  <a:pt x="3724272" y="1313498"/>
                  <a:pt x="3731812" y="1412494"/>
                </a:cubicBezTo>
                <a:cubicBezTo>
                  <a:pt x="3545390" y="1429104"/>
                  <a:pt x="3363738" y="1390130"/>
                  <a:pt x="3161378" y="1412494"/>
                </a:cubicBezTo>
                <a:cubicBezTo>
                  <a:pt x="2959018" y="1434858"/>
                  <a:pt x="2847754" y="1384345"/>
                  <a:pt x="2628262" y="1412494"/>
                </a:cubicBezTo>
                <a:cubicBezTo>
                  <a:pt x="2408770" y="1440643"/>
                  <a:pt x="2320533" y="1398370"/>
                  <a:pt x="2020510" y="1412494"/>
                </a:cubicBezTo>
                <a:cubicBezTo>
                  <a:pt x="1720487" y="1426618"/>
                  <a:pt x="1781433" y="1405015"/>
                  <a:pt x="1562030" y="1412494"/>
                </a:cubicBezTo>
                <a:cubicBezTo>
                  <a:pt x="1342627" y="1419973"/>
                  <a:pt x="1257829" y="1410186"/>
                  <a:pt x="1103550" y="1412494"/>
                </a:cubicBezTo>
                <a:cubicBezTo>
                  <a:pt x="949271" y="1414802"/>
                  <a:pt x="741277" y="1374073"/>
                  <a:pt x="570434" y="1412494"/>
                </a:cubicBezTo>
                <a:cubicBezTo>
                  <a:pt x="399591" y="1450915"/>
                  <a:pt x="214951" y="1369761"/>
                  <a:pt x="0" y="1412494"/>
                </a:cubicBezTo>
                <a:cubicBezTo>
                  <a:pt x="-3158" y="1245811"/>
                  <a:pt x="51953" y="1175382"/>
                  <a:pt x="0" y="955788"/>
                </a:cubicBezTo>
                <a:cubicBezTo>
                  <a:pt x="-51953" y="736194"/>
                  <a:pt x="53518" y="609012"/>
                  <a:pt x="0" y="470831"/>
                </a:cubicBezTo>
                <a:cubicBezTo>
                  <a:pt x="-53518" y="332650"/>
                  <a:pt x="49820" y="136340"/>
                  <a:pt x="0" y="0"/>
                </a:cubicBezTo>
                <a:close/>
              </a:path>
            </a:pathLst>
          </a:custGeom>
          <a:noFill/>
          <a:ln w="57150">
            <a:solidFill>
              <a:srgbClr val="2B0071"/>
            </a:solidFill>
            <a:extLst>
              <a:ext uri="{C807C97D-BFC1-408E-A445-0C87EB9F89A2}">
                <ask:lineSketchStyleProps xmlns:ask="http://schemas.microsoft.com/office/drawing/2018/sketchyshapes" sd="3646559756">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cxnSp>
        <p:nvCxnSpPr>
          <p:cNvPr id="30" name="Straight Arrow Connector 29">
            <a:extLst>
              <a:ext uri="{FF2B5EF4-FFF2-40B4-BE49-F238E27FC236}">
                <a16:creationId xmlns:a16="http://schemas.microsoft.com/office/drawing/2014/main" id="{440CD905-2B47-5940-A6F7-B18C386C2282}"/>
              </a:ext>
            </a:extLst>
          </p:cNvPr>
          <p:cNvCxnSpPr>
            <a:cxnSpLocks/>
          </p:cNvCxnSpPr>
          <p:nvPr/>
        </p:nvCxnSpPr>
        <p:spPr>
          <a:xfrm flipV="1">
            <a:off x="6314832" y="2490802"/>
            <a:ext cx="2178791" cy="2302158"/>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454BE87-A65B-C145-9754-55561BAAB8C4}"/>
              </a:ext>
            </a:extLst>
          </p:cNvPr>
          <p:cNvSpPr txBox="1"/>
          <p:nvPr/>
        </p:nvSpPr>
        <p:spPr>
          <a:xfrm>
            <a:off x="8562216" y="2259970"/>
            <a:ext cx="3341136" cy="461665"/>
          </a:xfrm>
          <a:prstGeom prst="rect">
            <a:avLst/>
          </a:prstGeom>
          <a:noFill/>
        </p:spPr>
        <p:txBody>
          <a:bodyPr wrap="square" rtlCol="0">
            <a:spAutoFit/>
          </a:bodyPr>
          <a:lstStyle/>
          <a:p>
            <a:r>
              <a:rPr lang="en-KR" sz="2400" dirty="0"/>
              <a:t>2. Other memory idle</a:t>
            </a:r>
          </a:p>
        </p:txBody>
      </p:sp>
    </p:spTree>
    <p:extLst>
      <p:ext uri="{BB962C8B-B14F-4D97-AF65-F5344CB8AC3E}">
        <p14:creationId xmlns:p14="http://schemas.microsoft.com/office/powerpoint/2010/main" val="3505236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6" grpId="0"/>
      <p:bldP spid="29" grpId="0" animBg="1"/>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1847E-DDFA-494C-9345-F6E89486B41D}"/>
              </a:ext>
            </a:extLst>
          </p:cNvPr>
          <p:cNvSpPr>
            <a:spLocks noGrp="1"/>
          </p:cNvSpPr>
          <p:nvPr>
            <p:ph type="title"/>
          </p:nvPr>
        </p:nvSpPr>
        <p:spPr/>
        <p:txBody>
          <a:bodyPr/>
          <a:lstStyle/>
          <a:p>
            <a:r>
              <a:rPr lang="en-KR" dirty="0"/>
              <a:t>Our insight</a:t>
            </a:r>
          </a:p>
        </p:txBody>
      </p:sp>
      <p:sp>
        <p:nvSpPr>
          <p:cNvPr id="3" name="Content Placeholder 2">
            <a:extLst>
              <a:ext uri="{FF2B5EF4-FFF2-40B4-BE49-F238E27FC236}">
                <a16:creationId xmlns:a16="http://schemas.microsoft.com/office/drawing/2014/main" id="{8FFF89A2-007D-1B42-A314-538AE303A2C8}"/>
              </a:ext>
            </a:extLst>
          </p:cNvPr>
          <p:cNvSpPr>
            <a:spLocks noGrp="1"/>
          </p:cNvSpPr>
          <p:nvPr>
            <p:ph idx="1"/>
          </p:nvPr>
        </p:nvSpPr>
        <p:spPr>
          <a:xfrm>
            <a:off x="838200" y="1825625"/>
            <a:ext cx="10515600" cy="2787939"/>
          </a:xfrm>
          <a:custGeom>
            <a:avLst/>
            <a:gdLst>
              <a:gd name="connsiteX0" fmla="*/ 0 w 10515600"/>
              <a:gd name="connsiteY0" fmla="*/ 0 h 2787939"/>
              <a:gd name="connsiteX1" fmla="*/ 689356 w 10515600"/>
              <a:gd name="connsiteY1" fmla="*/ 0 h 2787939"/>
              <a:gd name="connsiteX2" fmla="*/ 1378712 w 10515600"/>
              <a:gd name="connsiteY2" fmla="*/ 0 h 2787939"/>
              <a:gd name="connsiteX3" fmla="*/ 2068068 w 10515600"/>
              <a:gd name="connsiteY3" fmla="*/ 0 h 2787939"/>
              <a:gd name="connsiteX4" fmla="*/ 2757424 w 10515600"/>
              <a:gd name="connsiteY4" fmla="*/ 0 h 2787939"/>
              <a:gd name="connsiteX5" fmla="*/ 3551936 w 10515600"/>
              <a:gd name="connsiteY5" fmla="*/ 0 h 2787939"/>
              <a:gd name="connsiteX6" fmla="*/ 4136136 w 10515600"/>
              <a:gd name="connsiteY6" fmla="*/ 0 h 2787939"/>
              <a:gd name="connsiteX7" fmla="*/ 4825492 w 10515600"/>
              <a:gd name="connsiteY7" fmla="*/ 0 h 2787939"/>
              <a:gd name="connsiteX8" fmla="*/ 5409692 w 10515600"/>
              <a:gd name="connsiteY8" fmla="*/ 0 h 2787939"/>
              <a:gd name="connsiteX9" fmla="*/ 5993892 w 10515600"/>
              <a:gd name="connsiteY9" fmla="*/ 0 h 2787939"/>
              <a:gd name="connsiteX10" fmla="*/ 6578092 w 10515600"/>
              <a:gd name="connsiteY10" fmla="*/ 0 h 2787939"/>
              <a:gd name="connsiteX11" fmla="*/ 6846824 w 10515600"/>
              <a:gd name="connsiteY11" fmla="*/ 0 h 2787939"/>
              <a:gd name="connsiteX12" fmla="*/ 7536180 w 10515600"/>
              <a:gd name="connsiteY12" fmla="*/ 0 h 2787939"/>
              <a:gd name="connsiteX13" fmla="*/ 7804912 w 10515600"/>
              <a:gd name="connsiteY13" fmla="*/ 0 h 2787939"/>
              <a:gd name="connsiteX14" fmla="*/ 8389112 w 10515600"/>
              <a:gd name="connsiteY14" fmla="*/ 0 h 2787939"/>
              <a:gd name="connsiteX15" fmla="*/ 9183624 w 10515600"/>
              <a:gd name="connsiteY15" fmla="*/ 0 h 2787939"/>
              <a:gd name="connsiteX16" fmla="*/ 9978136 w 10515600"/>
              <a:gd name="connsiteY16" fmla="*/ 0 h 2787939"/>
              <a:gd name="connsiteX17" fmla="*/ 10515600 w 10515600"/>
              <a:gd name="connsiteY17" fmla="*/ 0 h 2787939"/>
              <a:gd name="connsiteX18" fmla="*/ 10515600 w 10515600"/>
              <a:gd name="connsiteY18" fmla="*/ 529708 h 2787939"/>
              <a:gd name="connsiteX19" fmla="*/ 10515600 w 10515600"/>
              <a:gd name="connsiteY19" fmla="*/ 1031537 h 2787939"/>
              <a:gd name="connsiteX20" fmla="*/ 10515600 w 10515600"/>
              <a:gd name="connsiteY20" fmla="*/ 1589125 h 2787939"/>
              <a:gd name="connsiteX21" fmla="*/ 10515600 w 10515600"/>
              <a:gd name="connsiteY21" fmla="*/ 2146713 h 2787939"/>
              <a:gd name="connsiteX22" fmla="*/ 10515600 w 10515600"/>
              <a:gd name="connsiteY22" fmla="*/ 2787939 h 2787939"/>
              <a:gd name="connsiteX23" fmla="*/ 9721088 w 10515600"/>
              <a:gd name="connsiteY23" fmla="*/ 2787939 h 2787939"/>
              <a:gd name="connsiteX24" fmla="*/ 8926576 w 10515600"/>
              <a:gd name="connsiteY24" fmla="*/ 2787939 h 2787939"/>
              <a:gd name="connsiteX25" fmla="*/ 8342376 w 10515600"/>
              <a:gd name="connsiteY25" fmla="*/ 2787939 h 2787939"/>
              <a:gd name="connsiteX26" fmla="*/ 7653020 w 10515600"/>
              <a:gd name="connsiteY26" fmla="*/ 2787939 h 2787939"/>
              <a:gd name="connsiteX27" fmla="*/ 7384288 w 10515600"/>
              <a:gd name="connsiteY27" fmla="*/ 2787939 h 2787939"/>
              <a:gd name="connsiteX28" fmla="*/ 6589776 w 10515600"/>
              <a:gd name="connsiteY28" fmla="*/ 2787939 h 2787939"/>
              <a:gd name="connsiteX29" fmla="*/ 6110732 w 10515600"/>
              <a:gd name="connsiteY29" fmla="*/ 2787939 h 2787939"/>
              <a:gd name="connsiteX30" fmla="*/ 5421376 w 10515600"/>
              <a:gd name="connsiteY30" fmla="*/ 2787939 h 2787939"/>
              <a:gd name="connsiteX31" fmla="*/ 5152644 w 10515600"/>
              <a:gd name="connsiteY31" fmla="*/ 2787939 h 2787939"/>
              <a:gd name="connsiteX32" fmla="*/ 4358132 w 10515600"/>
              <a:gd name="connsiteY32" fmla="*/ 2787939 h 2787939"/>
              <a:gd name="connsiteX33" fmla="*/ 3879088 w 10515600"/>
              <a:gd name="connsiteY33" fmla="*/ 2787939 h 2787939"/>
              <a:gd name="connsiteX34" fmla="*/ 3294888 w 10515600"/>
              <a:gd name="connsiteY34" fmla="*/ 2787939 h 2787939"/>
              <a:gd name="connsiteX35" fmla="*/ 2921000 w 10515600"/>
              <a:gd name="connsiteY35" fmla="*/ 2787939 h 2787939"/>
              <a:gd name="connsiteX36" fmla="*/ 2231644 w 10515600"/>
              <a:gd name="connsiteY36" fmla="*/ 2787939 h 2787939"/>
              <a:gd name="connsiteX37" fmla="*/ 1437132 w 10515600"/>
              <a:gd name="connsiteY37" fmla="*/ 2787939 h 2787939"/>
              <a:gd name="connsiteX38" fmla="*/ 958088 w 10515600"/>
              <a:gd name="connsiteY38" fmla="*/ 2787939 h 2787939"/>
              <a:gd name="connsiteX39" fmla="*/ 0 w 10515600"/>
              <a:gd name="connsiteY39" fmla="*/ 2787939 h 2787939"/>
              <a:gd name="connsiteX40" fmla="*/ 0 w 10515600"/>
              <a:gd name="connsiteY40" fmla="*/ 2230351 h 2787939"/>
              <a:gd name="connsiteX41" fmla="*/ 0 w 10515600"/>
              <a:gd name="connsiteY41" fmla="*/ 1672763 h 2787939"/>
              <a:gd name="connsiteX42" fmla="*/ 0 w 10515600"/>
              <a:gd name="connsiteY42" fmla="*/ 1087296 h 2787939"/>
              <a:gd name="connsiteX43" fmla="*/ 0 w 10515600"/>
              <a:gd name="connsiteY43" fmla="*/ 529708 h 2787939"/>
              <a:gd name="connsiteX44" fmla="*/ 0 w 10515600"/>
              <a:gd name="connsiteY44" fmla="*/ 0 h 278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515600" h="2787939" fill="none" extrusionOk="0">
                <a:moveTo>
                  <a:pt x="0" y="0"/>
                </a:moveTo>
                <a:cubicBezTo>
                  <a:pt x="148328" y="-50078"/>
                  <a:pt x="539730" y="28865"/>
                  <a:pt x="689356" y="0"/>
                </a:cubicBezTo>
                <a:cubicBezTo>
                  <a:pt x="838982" y="-28865"/>
                  <a:pt x="1090637" y="42761"/>
                  <a:pt x="1378712" y="0"/>
                </a:cubicBezTo>
                <a:cubicBezTo>
                  <a:pt x="1666787" y="-42761"/>
                  <a:pt x="1808763" y="80955"/>
                  <a:pt x="2068068" y="0"/>
                </a:cubicBezTo>
                <a:cubicBezTo>
                  <a:pt x="2327373" y="-80955"/>
                  <a:pt x="2536419" y="60894"/>
                  <a:pt x="2757424" y="0"/>
                </a:cubicBezTo>
                <a:cubicBezTo>
                  <a:pt x="2978429" y="-60894"/>
                  <a:pt x="3197083" y="38307"/>
                  <a:pt x="3551936" y="0"/>
                </a:cubicBezTo>
                <a:cubicBezTo>
                  <a:pt x="3906789" y="-38307"/>
                  <a:pt x="3929562" y="14017"/>
                  <a:pt x="4136136" y="0"/>
                </a:cubicBezTo>
                <a:cubicBezTo>
                  <a:pt x="4342710" y="-14017"/>
                  <a:pt x="4544732" y="46115"/>
                  <a:pt x="4825492" y="0"/>
                </a:cubicBezTo>
                <a:cubicBezTo>
                  <a:pt x="5106252" y="-46115"/>
                  <a:pt x="5169620" y="68194"/>
                  <a:pt x="5409692" y="0"/>
                </a:cubicBezTo>
                <a:cubicBezTo>
                  <a:pt x="5649764" y="-68194"/>
                  <a:pt x="5780703" y="65291"/>
                  <a:pt x="5993892" y="0"/>
                </a:cubicBezTo>
                <a:cubicBezTo>
                  <a:pt x="6207081" y="-65291"/>
                  <a:pt x="6442331" y="31774"/>
                  <a:pt x="6578092" y="0"/>
                </a:cubicBezTo>
                <a:cubicBezTo>
                  <a:pt x="6713853" y="-31774"/>
                  <a:pt x="6775022" y="4755"/>
                  <a:pt x="6846824" y="0"/>
                </a:cubicBezTo>
                <a:cubicBezTo>
                  <a:pt x="6918626" y="-4755"/>
                  <a:pt x="7389387" y="17716"/>
                  <a:pt x="7536180" y="0"/>
                </a:cubicBezTo>
                <a:cubicBezTo>
                  <a:pt x="7682973" y="-17716"/>
                  <a:pt x="7736346" y="9199"/>
                  <a:pt x="7804912" y="0"/>
                </a:cubicBezTo>
                <a:cubicBezTo>
                  <a:pt x="7873478" y="-9199"/>
                  <a:pt x="8154374" y="8584"/>
                  <a:pt x="8389112" y="0"/>
                </a:cubicBezTo>
                <a:cubicBezTo>
                  <a:pt x="8623850" y="-8584"/>
                  <a:pt x="8910063" y="46849"/>
                  <a:pt x="9183624" y="0"/>
                </a:cubicBezTo>
                <a:cubicBezTo>
                  <a:pt x="9457185" y="-46849"/>
                  <a:pt x="9586628" y="45312"/>
                  <a:pt x="9978136" y="0"/>
                </a:cubicBezTo>
                <a:cubicBezTo>
                  <a:pt x="10369644" y="-45312"/>
                  <a:pt x="10270554" y="19550"/>
                  <a:pt x="10515600" y="0"/>
                </a:cubicBezTo>
                <a:cubicBezTo>
                  <a:pt x="10544357" y="252116"/>
                  <a:pt x="10455749" y="289193"/>
                  <a:pt x="10515600" y="529708"/>
                </a:cubicBezTo>
                <a:cubicBezTo>
                  <a:pt x="10575451" y="770223"/>
                  <a:pt x="10479142" y="804289"/>
                  <a:pt x="10515600" y="1031537"/>
                </a:cubicBezTo>
                <a:cubicBezTo>
                  <a:pt x="10552058" y="1258785"/>
                  <a:pt x="10477309" y="1451123"/>
                  <a:pt x="10515600" y="1589125"/>
                </a:cubicBezTo>
                <a:cubicBezTo>
                  <a:pt x="10553891" y="1727127"/>
                  <a:pt x="10508992" y="2016472"/>
                  <a:pt x="10515600" y="2146713"/>
                </a:cubicBezTo>
                <a:cubicBezTo>
                  <a:pt x="10522208" y="2276954"/>
                  <a:pt x="10441059" y="2529363"/>
                  <a:pt x="10515600" y="2787939"/>
                </a:cubicBezTo>
                <a:cubicBezTo>
                  <a:pt x="10346899" y="2855321"/>
                  <a:pt x="10009675" y="2750174"/>
                  <a:pt x="9721088" y="2787939"/>
                </a:cubicBezTo>
                <a:cubicBezTo>
                  <a:pt x="9432501" y="2825704"/>
                  <a:pt x="9135980" y="2767661"/>
                  <a:pt x="8926576" y="2787939"/>
                </a:cubicBezTo>
                <a:cubicBezTo>
                  <a:pt x="8717172" y="2808217"/>
                  <a:pt x="8516289" y="2723280"/>
                  <a:pt x="8342376" y="2787939"/>
                </a:cubicBezTo>
                <a:cubicBezTo>
                  <a:pt x="8168463" y="2852598"/>
                  <a:pt x="7805400" y="2728368"/>
                  <a:pt x="7653020" y="2787939"/>
                </a:cubicBezTo>
                <a:cubicBezTo>
                  <a:pt x="7500640" y="2847510"/>
                  <a:pt x="7508742" y="2768686"/>
                  <a:pt x="7384288" y="2787939"/>
                </a:cubicBezTo>
                <a:cubicBezTo>
                  <a:pt x="7259834" y="2807192"/>
                  <a:pt x="6962643" y="2751603"/>
                  <a:pt x="6589776" y="2787939"/>
                </a:cubicBezTo>
                <a:cubicBezTo>
                  <a:pt x="6216909" y="2824275"/>
                  <a:pt x="6277508" y="2760910"/>
                  <a:pt x="6110732" y="2787939"/>
                </a:cubicBezTo>
                <a:cubicBezTo>
                  <a:pt x="5943956" y="2814968"/>
                  <a:pt x="5698862" y="2767069"/>
                  <a:pt x="5421376" y="2787939"/>
                </a:cubicBezTo>
                <a:cubicBezTo>
                  <a:pt x="5143890" y="2808809"/>
                  <a:pt x="5277944" y="2780030"/>
                  <a:pt x="5152644" y="2787939"/>
                </a:cubicBezTo>
                <a:cubicBezTo>
                  <a:pt x="5027344" y="2795848"/>
                  <a:pt x="4544943" y="2759535"/>
                  <a:pt x="4358132" y="2787939"/>
                </a:cubicBezTo>
                <a:cubicBezTo>
                  <a:pt x="4171321" y="2816343"/>
                  <a:pt x="4066862" y="2768892"/>
                  <a:pt x="3879088" y="2787939"/>
                </a:cubicBezTo>
                <a:cubicBezTo>
                  <a:pt x="3691314" y="2806986"/>
                  <a:pt x="3431583" y="2767928"/>
                  <a:pt x="3294888" y="2787939"/>
                </a:cubicBezTo>
                <a:cubicBezTo>
                  <a:pt x="3158193" y="2807950"/>
                  <a:pt x="3054369" y="2766041"/>
                  <a:pt x="2921000" y="2787939"/>
                </a:cubicBezTo>
                <a:cubicBezTo>
                  <a:pt x="2787631" y="2809837"/>
                  <a:pt x="2511996" y="2713441"/>
                  <a:pt x="2231644" y="2787939"/>
                </a:cubicBezTo>
                <a:cubicBezTo>
                  <a:pt x="1951292" y="2862437"/>
                  <a:pt x="1729943" y="2757917"/>
                  <a:pt x="1437132" y="2787939"/>
                </a:cubicBezTo>
                <a:cubicBezTo>
                  <a:pt x="1144321" y="2817961"/>
                  <a:pt x="1159660" y="2776714"/>
                  <a:pt x="958088" y="2787939"/>
                </a:cubicBezTo>
                <a:cubicBezTo>
                  <a:pt x="756516" y="2799164"/>
                  <a:pt x="474529" y="2687661"/>
                  <a:pt x="0" y="2787939"/>
                </a:cubicBezTo>
                <a:cubicBezTo>
                  <a:pt x="-22401" y="2670812"/>
                  <a:pt x="22851" y="2462527"/>
                  <a:pt x="0" y="2230351"/>
                </a:cubicBezTo>
                <a:cubicBezTo>
                  <a:pt x="-22851" y="1998175"/>
                  <a:pt x="52107" y="1840708"/>
                  <a:pt x="0" y="1672763"/>
                </a:cubicBezTo>
                <a:cubicBezTo>
                  <a:pt x="-52107" y="1504818"/>
                  <a:pt x="31758" y="1295566"/>
                  <a:pt x="0" y="1087296"/>
                </a:cubicBezTo>
                <a:cubicBezTo>
                  <a:pt x="-31758" y="879026"/>
                  <a:pt x="28485" y="660642"/>
                  <a:pt x="0" y="529708"/>
                </a:cubicBezTo>
                <a:cubicBezTo>
                  <a:pt x="-28485" y="398774"/>
                  <a:pt x="42188" y="238382"/>
                  <a:pt x="0" y="0"/>
                </a:cubicBezTo>
                <a:close/>
              </a:path>
              <a:path w="10515600" h="2787939" stroke="0" extrusionOk="0">
                <a:moveTo>
                  <a:pt x="0" y="0"/>
                </a:moveTo>
                <a:cubicBezTo>
                  <a:pt x="117769" y="-54612"/>
                  <a:pt x="363642" y="16397"/>
                  <a:pt x="479044" y="0"/>
                </a:cubicBezTo>
                <a:cubicBezTo>
                  <a:pt x="594446" y="-16397"/>
                  <a:pt x="677892" y="18700"/>
                  <a:pt x="747776" y="0"/>
                </a:cubicBezTo>
                <a:cubicBezTo>
                  <a:pt x="817660" y="-18700"/>
                  <a:pt x="1147191" y="42425"/>
                  <a:pt x="1542288" y="0"/>
                </a:cubicBezTo>
                <a:cubicBezTo>
                  <a:pt x="1937385" y="-42425"/>
                  <a:pt x="1903667" y="55036"/>
                  <a:pt x="2021332" y="0"/>
                </a:cubicBezTo>
                <a:cubicBezTo>
                  <a:pt x="2138997" y="-55036"/>
                  <a:pt x="2261555" y="30614"/>
                  <a:pt x="2500376" y="0"/>
                </a:cubicBezTo>
                <a:cubicBezTo>
                  <a:pt x="2739197" y="-30614"/>
                  <a:pt x="2992326" y="934"/>
                  <a:pt x="3294888" y="0"/>
                </a:cubicBezTo>
                <a:cubicBezTo>
                  <a:pt x="3597450" y="-934"/>
                  <a:pt x="3536470" y="20588"/>
                  <a:pt x="3668776" y="0"/>
                </a:cubicBezTo>
                <a:cubicBezTo>
                  <a:pt x="3801082" y="-20588"/>
                  <a:pt x="4167052" y="95069"/>
                  <a:pt x="4463288" y="0"/>
                </a:cubicBezTo>
                <a:cubicBezTo>
                  <a:pt x="4759524" y="-95069"/>
                  <a:pt x="4927052" y="44879"/>
                  <a:pt x="5257800" y="0"/>
                </a:cubicBezTo>
                <a:cubicBezTo>
                  <a:pt x="5588548" y="-44879"/>
                  <a:pt x="5635378" y="45685"/>
                  <a:pt x="5842000" y="0"/>
                </a:cubicBezTo>
                <a:cubicBezTo>
                  <a:pt x="6048622" y="-45685"/>
                  <a:pt x="6336244" y="84925"/>
                  <a:pt x="6636512" y="0"/>
                </a:cubicBezTo>
                <a:cubicBezTo>
                  <a:pt x="6936780" y="-84925"/>
                  <a:pt x="6983770" y="37784"/>
                  <a:pt x="7115556" y="0"/>
                </a:cubicBezTo>
                <a:cubicBezTo>
                  <a:pt x="7247342" y="-37784"/>
                  <a:pt x="7473141" y="52757"/>
                  <a:pt x="7594600" y="0"/>
                </a:cubicBezTo>
                <a:cubicBezTo>
                  <a:pt x="7716059" y="-52757"/>
                  <a:pt x="8131150" y="920"/>
                  <a:pt x="8283956" y="0"/>
                </a:cubicBezTo>
                <a:cubicBezTo>
                  <a:pt x="8436762" y="-920"/>
                  <a:pt x="8664826" y="24800"/>
                  <a:pt x="8763000" y="0"/>
                </a:cubicBezTo>
                <a:cubicBezTo>
                  <a:pt x="8861174" y="-24800"/>
                  <a:pt x="9272964" y="43339"/>
                  <a:pt x="9557512" y="0"/>
                </a:cubicBezTo>
                <a:cubicBezTo>
                  <a:pt x="9842060" y="-43339"/>
                  <a:pt x="10044680" y="73864"/>
                  <a:pt x="10515600" y="0"/>
                </a:cubicBezTo>
                <a:cubicBezTo>
                  <a:pt x="10575208" y="238095"/>
                  <a:pt x="10477938" y="354072"/>
                  <a:pt x="10515600" y="557588"/>
                </a:cubicBezTo>
                <a:cubicBezTo>
                  <a:pt x="10553262" y="761104"/>
                  <a:pt x="10485359" y="956455"/>
                  <a:pt x="10515600" y="1143055"/>
                </a:cubicBezTo>
                <a:cubicBezTo>
                  <a:pt x="10545841" y="1329655"/>
                  <a:pt x="10471559" y="1434901"/>
                  <a:pt x="10515600" y="1617005"/>
                </a:cubicBezTo>
                <a:cubicBezTo>
                  <a:pt x="10559641" y="1799109"/>
                  <a:pt x="10455839" y="1958983"/>
                  <a:pt x="10515600" y="2118834"/>
                </a:cubicBezTo>
                <a:cubicBezTo>
                  <a:pt x="10575361" y="2278685"/>
                  <a:pt x="10475422" y="2614732"/>
                  <a:pt x="10515600" y="2787939"/>
                </a:cubicBezTo>
                <a:cubicBezTo>
                  <a:pt x="10313277" y="2801033"/>
                  <a:pt x="10260218" y="2787621"/>
                  <a:pt x="10036556" y="2787939"/>
                </a:cubicBezTo>
                <a:cubicBezTo>
                  <a:pt x="9812894" y="2788257"/>
                  <a:pt x="9639415" y="2770057"/>
                  <a:pt x="9452356" y="2787939"/>
                </a:cubicBezTo>
                <a:cubicBezTo>
                  <a:pt x="9265297" y="2805821"/>
                  <a:pt x="9267641" y="2757994"/>
                  <a:pt x="9183624" y="2787939"/>
                </a:cubicBezTo>
                <a:cubicBezTo>
                  <a:pt x="9099607" y="2817884"/>
                  <a:pt x="9030895" y="2773837"/>
                  <a:pt x="8914892" y="2787939"/>
                </a:cubicBezTo>
                <a:cubicBezTo>
                  <a:pt x="8798889" y="2802041"/>
                  <a:pt x="8555946" y="2767811"/>
                  <a:pt x="8330692" y="2787939"/>
                </a:cubicBezTo>
                <a:cubicBezTo>
                  <a:pt x="8105438" y="2808067"/>
                  <a:pt x="8105649" y="2765833"/>
                  <a:pt x="7956804" y="2787939"/>
                </a:cubicBezTo>
                <a:cubicBezTo>
                  <a:pt x="7807959" y="2810045"/>
                  <a:pt x="7584014" y="2729298"/>
                  <a:pt x="7267448" y="2787939"/>
                </a:cubicBezTo>
                <a:cubicBezTo>
                  <a:pt x="6950882" y="2846580"/>
                  <a:pt x="7062036" y="2753981"/>
                  <a:pt x="6893560" y="2787939"/>
                </a:cubicBezTo>
                <a:cubicBezTo>
                  <a:pt x="6725084" y="2821897"/>
                  <a:pt x="6465688" y="2713304"/>
                  <a:pt x="6204204" y="2787939"/>
                </a:cubicBezTo>
                <a:cubicBezTo>
                  <a:pt x="5942720" y="2862574"/>
                  <a:pt x="6067486" y="2761404"/>
                  <a:pt x="5935472" y="2787939"/>
                </a:cubicBezTo>
                <a:cubicBezTo>
                  <a:pt x="5803458" y="2814474"/>
                  <a:pt x="5517544" y="2754644"/>
                  <a:pt x="5246116" y="2787939"/>
                </a:cubicBezTo>
                <a:cubicBezTo>
                  <a:pt x="4974688" y="2821234"/>
                  <a:pt x="5055280" y="2757170"/>
                  <a:pt x="4872228" y="2787939"/>
                </a:cubicBezTo>
                <a:cubicBezTo>
                  <a:pt x="4689176" y="2818708"/>
                  <a:pt x="4686614" y="2764920"/>
                  <a:pt x="4603496" y="2787939"/>
                </a:cubicBezTo>
                <a:cubicBezTo>
                  <a:pt x="4520378" y="2810958"/>
                  <a:pt x="4411706" y="2751627"/>
                  <a:pt x="4229608" y="2787939"/>
                </a:cubicBezTo>
                <a:cubicBezTo>
                  <a:pt x="4047510" y="2824251"/>
                  <a:pt x="3787625" y="2722825"/>
                  <a:pt x="3540252" y="2787939"/>
                </a:cubicBezTo>
                <a:cubicBezTo>
                  <a:pt x="3292879" y="2853053"/>
                  <a:pt x="3262205" y="2748448"/>
                  <a:pt x="3166364" y="2787939"/>
                </a:cubicBezTo>
                <a:cubicBezTo>
                  <a:pt x="3070523" y="2827430"/>
                  <a:pt x="2968879" y="2785350"/>
                  <a:pt x="2897632" y="2787939"/>
                </a:cubicBezTo>
                <a:cubicBezTo>
                  <a:pt x="2826385" y="2790528"/>
                  <a:pt x="2599636" y="2775474"/>
                  <a:pt x="2523744" y="2787939"/>
                </a:cubicBezTo>
                <a:cubicBezTo>
                  <a:pt x="2447852" y="2800404"/>
                  <a:pt x="2214540" y="2736813"/>
                  <a:pt x="2044700" y="2787939"/>
                </a:cubicBezTo>
                <a:cubicBezTo>
                  <a:pt x="1874860" y="2839065"/>
                  <a:pt x="1599952" y="2721987"/>
                  <a:pt x="1460500" y="2787939"/>
                </a:cubicBezTo>
                <a:cubicBezTo>
                  <a:pt x="1321048" y="2853891"/>
                  <a:pt x="1179350" y="2767307"/>
                  <a:pt x="1086612" y="2787939"/>
                </a:cubicBezTo>
                <a:cubicBezTo>
                  <a:pt x="993874" y="2808571"/>
                  <a:pt x="236084" y="2658301"/>
                  <a:pt x="0" y="2787939"/>
                </a:cubicBezTo>
                <a:cubicBezTo>
                  <a:pt x="-59377" y="2675290"/>
                  <a:pt x="22667" y="2405247"/>
                  <a:pt x="0" y="2230351"/>
                </a:cubicBezTo>
                <a:cubicBezTo>
                  <a:pt x="-22667" y="2055455"/>
                  <a:pt x="9428" y="1798015"/>
                  <a:pt x="0" y="1672763"/>
                </a:cubicBezTo>
                <a:cubicBezTo>
                  <a:pt x="-9428" y="1547511"/>
                  <a:pt x="20146" y="1312875"/>
                  <a:pt x="0" y="1115176"/>
                </a:cubicBezTo>
                <a:cubicBezTo>
                  <a:pt x="-20146" y="917477"/>
                  <a:pt x="13679" y="694812"/>
                  <a:pt x="0" y="557588"/>
                </a:cubicBezTo>
                <a:cubicBezTo>
                  <a:pt x="-13679" y="420364"/>
                  <a:pt x="22588" y="221359"/>
                  <a:pt x="0" y="0"/>
                </a:cubicBezTo>
                <a:close/>
              </a:path>
            </a:pathLst>
          </a:custGeom>
          <a:ln w="38100">
            <a:solidFill>
              <a:srgbClr val="C00000"/>
            </a:solidFill>
            <a:extLst>
              <a:ext uri="{C807C97D-BFC1-408E-A445-0C87EB9F89A2}">
                <ask:lineSketchStyleProps xmlns:ask="http://schemas.microsoft.com/office/drawing/2018/sketchyshapes" sd="1219033472">
                  <ask:type>
                    <ask:lineSketchScribble/>
                  </ask:type>
                </ask:lineSketchStyleProps>
              </a:ext>
            </a:extLst>
          </a:ln>
        </p:spPr>
        <p:txBody>
          <a:bodyPr/>
          <a:lstStyle/>
          <a:p>
            <a:pPr marL="514350" indent="-514350">
              <a:buFont typeface="+mj-lt"/>
              <a:buAutoNum type="arabicPeriod"/>
            </a:pPr>
            <a:r>
              <a:rPr lang="en-KR" dirty="0"/>
              <a:t>Existing system not exploit diverse memory path</a:t>
            </a:r>
          </a:p>
          <a:p>
            <a:pPr lvl="1"/>
            <a:r>
              <a:rPr lang="en-US" dirty="0"/>
              <a:t>Static Linux’s fallback node list</a:t>
            </a:r>
            <a:endParaRPr lang="en-KR" dirty="0"/>
          </a:p>
          <a:p>
            <a:pPr lvl="1"/>
            <a:r>
              <a:rPr lang="en-US" dirty="0"/>
              <a:t>A</a:t>
            </a:r>
            <a:r>
              <a:rPr lang="en-KR" dirty="0"/>
              <a:t>ll remote latency is almost the same</a:t>
            </a:r>
          </a:p>
          <a:p>
            <a:pPr marL="514350" indent="-514350">
              <a:buFont typeface="+mj-lt"/>
              <a:buAutoNum type="arabicPeriod"/>
            </a:pPr>
            <a:endParaRPr lang="en-KR" dirty="0"/>
          </a:p>
          <a:p>
            <a:pPr marL="514350" indent="-514350">
              <a:buFont typeface="+mj-lt"/>
              <a:buAutoNum type="arabicPeriod"/>
            </a:pPr>
            <a:r>
              <a:rPr lang="en-KR" dirty="0"/>
              <a:t>Existing memory placement causes unintended interference</a:t>
            </a:r>
          </a:p>
          <a:p>
            <a:pPr lvl="1"/>
            <a:r>
              <a:rPr lang="en-KR" dirty="0"/>
              <a:t>Multiple applications would use the same memory node</a:t>
            </a:r>
          </a:p>
        </p:txBody>
      </p:sp>
      <p:sp>
        <p:nvSpPr>
          <p:cNvPr id="4" name="Down Arrow 3">
            <a:extLst>
              <a:ext uri="{FF2B5EF4-FFF2-40B4-BE49-F238E27FC236}">
                <a16:creationId xmlns:a16="http://schemas.microsoft.com/office/drawing/2014/main" id="{C6024C5C-9D88-3543-83F1-42C6DD409D86}"/>
              </a:ext>
            </a:extLst>
          </p:cNvPr>
          <p:cNvSpPr/>
          <p:nvPr/>
        </p:nvSpPr>
        <p:spPr>
          <a:xfrm>
            <a:off x="5597235" y="4748501"/>
            <a:ext cx="651163" cy="678873"/>
          </a:xfrm>
          <a:custGeom>
            <a:avLst/>
            <a:gdLst>
              <a:gd name="connsiteX0" fmla="*/ 0 w 651163"/>
              <a:gd name="connsiteY0" fmla="*/ 353292 h 678873"/>
              <a:gd name="connsiteX1" fmla="*/ 162791 w 651163"/>
              <a:gd name="connsiteY1" fmla="*/ 353292 h 678873"/>
              <a:gd name="connsiteX2" fmla="*/ 162791 w 651163"/>
              <a:gd name="connsiteY2" fmla="*/ 0 h 678873"/>
              <a:gd name="connsiteX3" fmla="*/ 488372 w 651163"/>
              <a:gd name="connsiteY3" fmla="*/ 0 h 678873"/>
              <a:gd name="connsiteX4" fmla="*/ 488372 w 651163"/>
              <a:gd name="connsiteY4" fmla="*/ 353292 h 678873"/>
              <a:gd name="connsiteX5" fmla="*/ 651163 w 651163"/>
              <a:gd name="connsiteY5" fmla="*/ 353292 h 678873"/>
              <a:gd name="connsiteX6" fmla="*/ 325582 w 651163"/>
              <a:gd name="connsiteY6" fmla="*/ 678873 h 678873"/>
              <a:gd name="connsiteX7" fmla="*/ 0 w 651163"/>
              <a:gd name="connsiteY7" fmla="*/ 353292 h 678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1163" h="678873" extrusionOk="0">
                <a:moveTo>
                  <a:pt x="0" y="353292"/>
                </a:moveTo>
                <a:cubicBezTo>
                  <a:pt x="70283" y="346290"/>
                  <a:pt x="127389" y="368552"/>
                  <a:pt x="162791" y="353292"/>
                </a:cubicBezTo>
                <a:cubicBezTo>
                  <a:pt x="139946" y="201832"/>
                  <a:pt x="186093" y="74595"/>
                  <a:pt x="162791" y="0"/>
                </a:cubicBezTo>
                <a:cubicBezTo>
                  <a:pt x="291046" y="-16777"/>
                  <a:pt x="331666" y="16778"/>
                  <a:pt x="488372" y="0"/>
                </a:cubicBezTo>
                <a:cubicBezTo>
                  <a:pt x="511271" y="156117"/>
                  <a:pt x="459936" y="250169"/>
                  <a:pt x="488372" y="353292"/>
                </a:cubicBezTo>
                <a:cubicBezTo>
                  <a:pt x="530924" y="346414"/>
                  <a:pt x="579584" y="361325"/>
                  <a:pt x="651163" y="353292"/>
                </a:cubicBezTo>
                <a:cubicBezTo>
                  <a:pt x="517521" y="495121"/>
                  <a:pt x="396386" y="533046"/>
                  <a:pt x="325582" y="678873"/>
                </a:cubicBezTo>
                <a:cubicBezTo>
                  <a:pt x="215946" y="634458"/>
                  <a:pt x="150886" y="489152"/>
                  <a:pt x="0" y="353292"/>
                </a:cubicBezTo>
                <a:close/>
              </a:path>
            </a:pathLst>
          </a:custGeom>
          <a:noFill/>
          <a:ln w="76200">
            <a:solidFill>
              <a:srgbClr val="2B0071"/>
            </a:solidFill>
            <a:extLst>
              <a:ext uri="{C807C97D-BFC1-408E-A445-0C87EB9F89A2}">
                <ask:lineSketchStyleProps xmlns:ask="http://schemas.microsoft.com/office/drawing/2018/sketchyshapes" sd="1301201602">
                  <a:prstGeom prst="downArrow">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dirty="0"/>
          </a:p>
        </p:txBody>
      </p:sp>
      <p:sp>
        <p:nvSpPr>
          <p:cNvPr id="5" name="Rectangle 4">
            <a:extLst>
              <a:ext uri="{FF2B5EF4-FFF2-40B4-BE49-F238E27FC236}">
                <a16:creationId xmlns:a16="http://schemas.microsoft.com/office/drawing/2014/main" id="{0EB0D58A-BC19-1544-9C78-D2154C4613F2}"/>
              </a:ext>
            </a:extLst>
          </p:cNvPr>
          <p:cNvSpPr/>
          <p:nvPr/>
        </p:nvSpPr>
        <p:spPr>
          <a:xfrm>
            <a:off x="1723590" y="5562311"/>
            <a:ext cx="8398452" cy="10601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3600" i="1" dirty="0">
                <a:solidFill>
                  <a:srgbClr val="C00000"/>
                </a:solidFill>
              </a:rPr>
              <a:t>Hybrid &amp; Usage-aware memory placement</a:t>
            </a:r>
          </a:p>
        </p:txBody>
      </p:sp>
    </p:spTree>
    <p:extLst>
      <p:ext uri="{BB962C8B-B14F-4D97-AF65-F5344CB8AC3E}">
        <p14:creationId xmlns:p14="http://schemas.microsoft.com/office/powerpoint/2010/main" val="107742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CC2A2-6F5B-7D41-93E2-18BFAA09BDB0}"/>
              </a:ext>
            </a:extLst>
          </p:cNvPr>
          <p:cNvSpPr>
            <a:spLocks noGrp="1"/>
          </p:cNvSpPr>
          <p:nvPr>
            <p:ph type="title"/>
          </p:nvPr>
        </p:nvSpPr>
        <p:spPr/>
        <p:txBody>
          <a:bodyPr/>
          <a:lstStyle/>
          <a:p>
            <a:r>
              <a:rPr lang="en-KR" dirty="0"/>
              <a:t>Rest of the talk</a:t>
            </a:r>
          </a:p>
        </p:txBody>
      </p:sp>
      <p:sp>
        <p:nvSpPr>
          <p:cNvPr id="3" name="Content Placeholder 2">
            <a:extLst>
              <a:ext uri="{FF2B5EF4-FFF2-40B4-BE49-F238E27FC236}">
                <a16:creationId xmlns:a16="http://schemas.microsoft.com/office/drawing/2014/main" id="{A3B26488-DF79-A645-9FB7-2D794C6589BF}"/>
              </a:ext>
            </a:extLst>
          </p:cNvPr>
          <p:cNvSpPr>
            <a:spLocks noGrp="1"/>
          </p:cNvSpPr>
          <p:nvPr>
            <p:ph idx="1"/>
          </p:nvPr>
        </p:nvSpPr>
        <p:spPr/>
        <p:txBody>
          <a:bodyPr/>
          <a:lstStyle/>
          <a:p>
            <a:r>
              <a:rPr lang="en-KR" dirty="0"/>
              <a:t>Hybrid &amp; Usage-aware memory placement</a:t>
            </a:r>
          </a:p>
          <a:p>
            <a:r>
              <a:rPr lang="en-KR" dirty="0"/>
              <a:t>Performance evaluation</a:t>
            </a:r>
          </a:p>
          <a:p>
            <a:r>
              <a:rPr lang="en-KR" dirty="0"/>
              <a:t>Discussion</a:t>
            </a:r>
          </a:p>
          <a:p>
            <a:r>
              <a:rPr lang="en-KR" dirty="0"/>
              <a:t>Conclusion</a:t>
            </a:r>
          </a:p>
        </p:txBody>
      </p:sp>
    </p:spTree>
    <p:extLst>
      <p:ext uri="{BB962C8B-B14F-4D97-AF65-F5344CB8AC3E}">
        <p14:creationId xmlns:p14="http://schemas.microsoft.com/office/powerpoint/2010/main" val="2275281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9650D-8B18-204E-BF26-EF88435F78D4}"/>
              </a:ext>
            </a:extLst>
          </p:cNvPr>
          <p:cNvSpPr>
            <a:spLocks noGrp="1"/>
          </p:cNvSpPr>
          <p:nvPr>
            <p:ph type="title"/>
          </p:nvPr>
        </p:nvSpPr>
        <p:spPr/>
        <p:txBody>
          <a:bodyPr/>
          <a:lstStyle/>
          <a:p>
            <a:r>
              <a:rPr lang="en-KR" dirty="0"/>
              <a:t>Hybrid placement</a:t>
            </a:r>
          </a:p>
        </p:txBody>
      </p:sp>
      <p:sp>
        <p:nvSpPr>
          <p:cNvPr id="3" name="Content Placeholder 2">
            <a:extLst>
              <a:ext uri="{FF2B5EF4-FFF2-40B4-BE49-F238E27FC236}">
                <a16:creationId xmlns:a16="http://schemas.microsoft.com/office/drawing/2014/main" id="{B338FC06-FBFA-B64A-9BB0-4433EC064379}"/>
              </a:ext>
            </a:extLst>
          </p:cNvPr>
          <p:cNvSpPr>
            <a:spLocks noGrp="1"/>
          </p:cNvSpPr>
          <p:nvPr>
            <p:ph idx="1"/>
          </p:nvPr>
        </p:nvSpPr>
        <p:spPr/>
        <p:txBody>
          <a:bodyPr/>
          <a:lstStyle/>
          <a:p>
            <a:r>
              <a:rPr lang="en-KR" dirty="0"/>
              <a:t>First-touch (Linux default) + page-interleave (round-robin allocation)</a:t>
            </a:r>
          </a:p>
          <a:p>
            <a:pPr lvl="1"/>
            <a:r>
              <a:rPr lang="en-KR" dirty="0"/>
              <a:t>Use first-touch when allocating local memory</a:t>
            </a:r>
          </a:p>
          <a:p>
            <a:pPr lvl="1"/>
            <a:r>
              <a:rPr lang="en-KR" dirty="0"/>
              <a:t>Use page-interleave when allocating remote memory</a:t>
            </a:r>
          </a:p>
        </p:txBody>
      </p:sp>
      <p:sp>
        <p:nvSpPr>
          <p:cNvPr id="4" name="Rectangle 3">
            <a:extLst>
              <a:ext uri="{FF2B5EF4-FFF2-40B4-BE49-F238E27FC236}">
                <a16:creationId xmlns:a16="http://schemas.microsoft.com/office/drawing/2014/main" id="{B002752F-312D-554C-86A0-B5ACF0C5DA6D}"/>
              </a:ext>
            </a:extLst>
          </p:cNvPr>
          <p:cNvSpPr/>
          <p:nvPr/>
        </p:nvSpPr>
        <p:spPr>
          <a:xfrm>
            <a:off x="8897011" y="5092639"/>
            <a:ext cx="168661" cy="785514"/>
          </a:xfrm>
          <a:prstGeom prst="rect">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2400" dirty="0">
              <a:solidFill>
                <a:schemeClr val="tx1"/>
              </a:solidFill>
            </a:endParaRPr>
          </a:p>
        </p:txBody>
      </p:sp>
      <p:sp>
        <p:nvSpPr>
          <p:cNvPr id="5" name="Rectangle 4">
            <a:extLst>
              <a:ext uri="{FF2B5EF4-FFF2-40B4-BE49-F238E27FC236}">
                <a16:creationId xmlns:a16="http://schemas.microsoft.com/office/drawing/2014/main" id="{FC0FA98B-76A9-C243-ACDE-E051DB0B297E}"/>
              </a:ext>
            </a:extLst>
          </p:cNvPr>
          <p:cNvSpPr/>
          <p:nvPr/>
        </p:nvSpPr>
        <p:spPr>
          <a:xfrm>
            <a:off x="6858141" y="5095233"/>
            <a:ext cx="154668" cy="785514"/>
          </a:xfrm>
          <a:prstGeom prst="rect">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2400" dirty="0">
              <a:solidFill>
                <a:schemeClr val="tx1"/>
              </a:solidFill>
            </a:endParaRPr>
          </a:p>
        </p:txBody>
      </p:sp>
      <p:sp>
        <p:nvSpPr>
          <p:cNvPr id="6" name="Rectangle 5">
            <a:extLst>
              <a:ext uri="{FF2B5EF4-FFF2-40B4-BE49-F238E27FC236}">
                <a16:creationId xmlns:a16="http://schemas.microsoft.com/office/drawing/2014/main" id="{D7C1CE51-E7AD-BF40-9AAB-0E297858B507}"/>
              </a:ext>
            </a:extLst>
          </p:cNvPr>
          <p:cNvSpPr/>
          <p:nvPr/>
        </p:nvSpPr>
        <p:spPr>
          <a:xfrm>
            <a:off x="4974201" y="5097821"/>
            <a:ext cx="259720" cy="785514"/>
          </a:xfrm>
          <a:prstGeom prst="rect">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2400" dirty="0">
              <a:solidFill>
                <a:schemeClr val="tx1"/>
              </a:solidFill>
            </a:endParaRPr>
          </a:p>
        </p:txBody>
      </p:sp>
      <p:sp>
        <p:nvSpPr>
          <p:cNvPr id="7" name="Rectangle 6">
            <a:extLst>
              <a:ext uri="{FF2B5EF4-FFF2-40B4-BE49-F238E27FC236}">
                <a16:creationId xmlns:a16="http://schemas.microsoft.com/office/drawing/2014/main" id="{A7DE93A3-3EC4-924F-8467-4A800B758208}"/>
              </a:ext>
            </a:extLst>
          </p:cNvPr>
          <p:cNvSpPr/>
          <p:nvPr/>
        </p:nvSpPr>
        <p:spPr>
          <a:xfrm>
            <a:off x="8215464" y="5092204"/>
            <a:ext cx="660154" cy="785514"/>
          </a:xfrm>
          <a:prstGeom prst="rect">
            <a:avLst/>
          </a:prstGeom>
          <a:solidFill>
            <a:srgbClr val="00206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2400" dirty="0">
              <a:solidFill>
                <a:schemeClr val="tx1"/>
              </a:solidFill>
            </a:endParaRPr>
          </a:p>
        </p:txBody>
      </p:sp>
      <p:sp>
        <p:nvSpPr>
          <p:cNvPr id="8" name="Rectangle 7">
            <a:extLst>
              <a:ext uri="{FF2B5EF4-FFF2-40B4-BE49-F238E27FC236}">
                <a16:creationId xmlns:a16="http://schemas.microsoft.com/office/drawing/2014/main" id="{0AE80BC8-49EE-6C43-B5F4-FA3DC6D2B0A7}"/>
              </a:ext>
            </a:extLst>
          </p:cNvPr>
          <p:cNvSpPr/>
          <p:nvPr/>
        </p:nvSpPr>
        <p:spPr>
          <a:xfrm>
            <a:off x="6201744" y="5092204"/>
            <a:ext cx="660154" cy="785514"/>
          </a:xfrm>
          <a:prstGeom prst="rect">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2400" dirty="0">
              <a:solidFill>
                <a:schemeClr val="tx1"/>
              </a:solidFill>
            </a:endParaRPr>
          </a:p>
        </p:txBody>
      </p:sp>
      <p:sp>
        <p:nvSpPr>
          <p:cNvPr id="9" name="Rectangle 8">
            <a:extLst>
              <a:ext uri="{FF2B5EF4-FFF2-40B4-BE49-F238E27FC236}">
                <a16:creationId xmlns:a16="http://schemas.microsoft.com/office/drawing/2014/main" id="{E0F4856B-EE2F-2644-B83C-28F32C2EAFBB}"/>
              </a:ext>
            </a:extLst>
          </p:cNvPr>
          <p:cNvSpPr/>
          <p:nvPr/>
        </p:nvSpPr>
        <p:spPr>
          <a:xfrm>
            <a:off x="4307631" y="5092204"/>
            <a:ext cx="660154" cy="785514"/>
          </a:xfrm>
          <a:prstGeom prst="rect">
            <a:avLst/>
          </a:prstGeom>
          <a:solidFill>
            <a:srgbClr val="FFC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2400" dirty="0">
              <a:solidFill>
                <a:schemeClr val="tx1"/>
              </a:solidFill>
            </a:endParaRPr>
          </a:p>
        </p:txBody>
      </p:sp>
      <p:sp>
        <p:nvSpPr>
          <p:cNvPr id="10" name="Rectangle 9">
            <a:extLst>
              <a:ext uri="{FF2B5EF4-FFF2-40B4-BE49-F238E27FC236}">
                <a16:creationId xmlns:a16="http://schemas.microsoft.com/office/drawing/2014/main" id="{0D18BCB1-ECA4-4F42-ACAB-4D49621C1918}"/>
              </a:ext>
            </a:extLst>
          </p:cNvPr>
          <p:cNvSpPr/>
          <p:nvPr/>
        </p:nvSpPr>
        <p:spPr>
          <a:xfrm>
            <a:off x="2413518"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CPU-0</a:t>
            </a:r>
          </a:p>
        </p:txBody>
      </p:sp>
      <p:sp>
        <p:nvSpPr>
          <p:cNvPr id="11" name="Rectangle 10">
            <a:extLst>
              <a:ext uri="{FF2B5EF4-FFF2-40B4-BE49-F238E27FC236}">
                <a16:creationId xmlns:a16="http://schemas.microsoft.com/office/drawing/2014/main" id="{8A8E5AB3-1955-D648-A6EF-51C016F61EF4}"/>
              </a:ext>
            </a:extLst>
          </p:cNvPr>
          <p:cNvSpPr/>
          <p:nvPr/>
        </p:nvSpPr>
        <p:spPr>
          <a:xfrm>
            <a:off x="2413517" y="5092204"/>
            <a:ext cx="1276737" cy="785514"/>
          </a:xfrm>
          <a:prstGeom prst="rect">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DIMM-0</a:t>
            </a:r>
          </a:p>
        </p:txBody>
      </p:sp>
      <p:sp>
        <p:nvSpPr>
          <p:cNvPr id="12" name="Rectangle 11">
            <a:extLst>
              <a:ext uri="{FF2B5EF4-FFF2-40B4-BE49-F238E27FC236}">
                <a16:creationId xmlns:a16="http://schemas.microsoft.com/office/drawing/2014/main" id="{001A57AC-3DEF-A049-961D-9DCB15C6A751}"/>
              </a:ext>
            </a:extLst>
          </p:cNvPr>
          <p:cNvSpPr/>
          <p:nvPr/>
        </p:nvSpPr>
        <p:spPr>
          <a:xfrm>
            <a:off x="4307632"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CPU-1</a:t>
            </a:r>
          </a:p>
        </p:txBody>
      </p:sp>
      <p:sp>
        <p:nvSpPr>
          <p:cNvPr id="13" name="Rectangle 12">
            <a:extLst>
              <a:ext uri="{FF2B5EF4-FFF2-40B4-BE49-F238E27FC236}">
                <a16:creationId xmlns:a16="http://schemas.microsoft.com/office/drawing/2014/main" id="{26780774-1A2E-D44D-BDF8-53B86A5F5624}"/>
              </a:ext>
            </a:extLst>
          </p:cNvPr>
          <p:cNvSpPr/>
          <p:nvPr/>
        </p:nvSpPr>
        <p:spPr>
          <a:xfrm>
            <a:off x="4317541" y="5092204"/>
            <a:ext cx="1276737" cy="7855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DIMM-1</a:t>
            </a:r>
          </a:p>
        </p:txBody>
      </p:sp>
      <p:sp>
        <p:nvSpPr>
          <p:cNvPr id="14" name="Rectangle 13">
            <a:extLst>
              <a:ext uri="{FF2B5EF4-FFF2-40B4-BE49-F238E27FC236}">
                <a16:creationId xmlns:a16="http://schemas.microsoft.com/office/drawing/2014/main" id="{2B5BAF6A-4419-3647-9064-269186DEB7E0}"/>
              </a:ext>
            </a:extLst>
          </p:cNvPr>
          <p:cNvSpPr/>
          <p:nvPr/>
        </p:nvSpPr>
        <p:spPr>
          <a:xfrm>
            <a:off x="6201746"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CPU-2</a:t>
            </a:r>
          </a:p>
        </p:txBody>
      </p:sp>
      <p:sp>
        <p:nvSpPr>
          <p:cNvPr id="15" name="Rectangle 14">
            <a:extLst>
              <a:ext uri="{FF2B5EF4-FFF2-40B4-BE49-F238E27FC236}">
                <a16:creationId xmlns:a16="http://schemas.microsoft.com/office/drawing/2014/main" id="{59E02787-22A1-FA42-816B-B11CFE10BA0D}"/>
              </a:ext>
            </a:extLst>
          </p:cNvPr>
          <p:cNvSpPr/>
          <p:nvPr/>
        </p:nvSpPr>
        <p:spPr>
          <a:xfrm>
            <a:off x="6213618" y="5104115"/>
            <a:ext cx="1276737" cy="7855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DIMM-2</a:t>
            </a:r>
          </a:p>
        </p:txBody>
      </p:sp>
      <p:sp>
        <p:nvSpPr>
          <p:cNvPr id="16" name="Rectangle 15">
            <a:extLst>
              <a:ext uri="{FF2B5EF4-FFF2-40B4-BE49-F238E27FC236}">
                <a16:creationId xmlns:a16="http://schemas.microsoft.com/office/drawing/2014/main" id="{E81C8B6F-6BA1-2349-B890-DD1B8180C28D}"/>
              </a:ext>
            </a:extLst>
          </p:cNvPr>
          <p:cNvSpPr/>
          <p:nvPr/>
        </p:nvSpPr>
        <p:spPr>
          <a:xfrm>
            <a:off x="8212498"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CPU-3</a:t>
            </a:r>
          </a:p>
        </p:txBody>
      </p:sp>
      <p:sp>
        <p:nvSpPr>
          <p:cNvPr id="17" name="Rectangle 16">
            <a:extLst>
              <a:ext uri="{FF2B5EF4-FFF2-40B4-BE49-F238E27FC236}">
                <a16:creationId xmlns:a16="http://schemas.microsoft.com/office/drawing/2014/main" id="{1D1F8FA2-C66C-8247-AB7A-73310EA4F403}"/>
              </a:ext>
            </a:extLst>
          </p:cNvPr>
          <p:cNvSpPr/>
          <p:nvPr/>
        </p:nvSpPr>
        <p:spPr>
          <a:xfrm>
            <a:off x="8212496" y="5104115"/>
            <a:ext cx="1276737" cy="7855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DIMM-3</a:t>
            </a:r>
          </a:p>
        </p:txBody>
      </p:sp>
      <p:sp>
        <p:nvSpPr>
          <p:cNvPr id="18" name="Rectangle 17">
            <a:extLst>
              <a:ext uri="{FF2B5EF4-FFF2-40B4-BE49-F238E27FC236}">
                <a16:creationId xmlns:a16="http://schemas.microsoft.com/office/drawing/2014/main" id="{2E71648E-D025-3644-91D5-3789B3E5EB24}"/>
              </a:ext>
            </a:extLst>
          </p:cNvPr>
          <p:cNvSpPr/>
          <p:nvPr/>
        </p:nvSpPr>
        <p:spPr>
          <a:xfrm>
            <a:off x="2413517" y="3249997"/>
            <a:ext cx="1276737" cy="3461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App A </a:t>
            </a:r>
          </a:p>
        </p:txBody>
      </p:sp>
      <p:sp>
        <p:nvSpPr>
          <p:cNvPr id="19" name="Rectangle 18">
            <a:extLst>
              <a:ext uri="{FF2B5EF4-FFF2-40B4-BE49-F238E27FC236}">
                <a16:creationId xmlns:a16="http://schemas.microsoft.com/office/drawing/2014/main" id="{422FE8B1-9A6C-7246-AF9D-1D7F98FF3BD2}"/>
              </a:ext>
            </a:extLst>
          </p:cNvPr>
          <p:cNvSpPr/>
          <p:nvPr/>
        </p:nvSpPr>
        <p:spPr>
          <a:xfrm>
            <a:off x="4307631" y="3234592"/>
            <a:ext cx="1276737" cy="34618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App </a:t>
            </a:r>
            <a:r>
              <a:rPr lang="en-US" dirty="0">
                <a:solidFill>
                  <a:schemeClr val="bg1"/>
                </a:solidFill>
              </a:rPr>
              <a:t>B</a:t>
            </a:r>
            <a:r>
              <a:rPr lang="en-KR" dirty="0">
                <a:solidFill>
                  <a:schemeClr val="bg1"/>
                </a:solidFill>
              </a:rPr>
              <a:t> </a:t>
            </a:r>
          </a:p>
        </p:txBody>
      </p:sp>
      <p:sp>
        <p:nvSpPr>
          <p:cNvPr id="20" name="Rectangle 19">
            <a:extLst>
              <a:ext uri="{FF2B5EF4-FFF2-40B4-BE49-F238E27FC236}">
                <a16:creationId xmlns:a16="http://schemas.microsoft.com/office/drawing/2014/main" id="{4F73AE7D-3B73-394E-804F-45B23527DE14}"/>
              </a:ext>
            </a:extLst>
          </p:cNvPr>
          <p:cNvSpPr/>
          <p:nvPr/>
        </p:nvSpPr>
        <p:spPr>
          <a:xfrm>
            <a:off x="6201744" y="3232095"/>
            <a:ext cx="1276737" cy="3461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App C </a:t>
            </a:r>
          </a:p>
        </p:txBody>
      </p:sp>
      <p:sp>
        <p:nvSpPr>
          <p:cNvPr id="21" name="Rectangle 20">
            <a:extLst>
              <a:ext uri="{FF2B5EF4-FFF2-40B4-BE49-F238E27FC236}">
                <a16:creationId xmlns:a16="http://schemas.microsoft.com/office/drawing/2014/main" id="{B6A9C21C-E509-F041-A077-418609DE8453}"/>
              </a:ext>
            </a:extLst>
          </p:cNvPr>
          <p:cNvSpPr/>
          <p:nvPr/>
        </p:nvSpPr>
        <p:spPr>
          <a:xfrm>
            <a:off x="8212497" y="3232095"/>
            <a:ext cx="1276737" cy="34618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App D </a:t>
            </a:r>
          </a:p>
        </p:txBody>
      </p:sp>
    </p:spTree>
    <p:extLst>
      <p:ext uri="{BB962C8B-B14F-4D97-AF65-F5344CB8AC3E}">
        <p14:creationId xmlns:p14="http://schemas.microsoft.com/office/powerpoint/2010/main" val="38729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75C5095-D3C2-964C-842C-1A2FEAB88575}"/>
              </a:ext>
            </a:extLst>
          </p:cNvPr>
          <p:cNvSpPr/>
          <p:nvPr/>
        </p:nvSpPr>
        <p:spPr>
          <a:xfrm>
            <a:off x="6359367" y="5094166"/>
            <a:ext cx="414650" cy="785514"/>
          </a:xfrm>
          <a:prstGeom prst="rect">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2400" dirty="0">
              <a:solidFill>
                <a:schemeClr val="tx1"/>
              </a:solidFill>
            </a:endParaRPr>
          </a:p>
        </p:txBody>
      </p:sp>
      <p:sp>
        <p:nvSpPr>
          <p:cNvPr id="19" name="Rectangle 18">
            <a:extLst>
              <a:ext uri="{FF2B5EF4-FFF2-40B4-BE49-F238E27FC236}">
                <a16:creationId xmlns:a16="http://schemas.microsoft.com/office/drawing/2014/main" id="{41554065-A236-6B43-8DC0-BBA5A4B9AEBA}"/>
              </a:ext>
            </a:extLst>
          </p:cNvPr>
          <p:cNvSpPr/>
          <p:nvPr/>
        </p:nvSpPr>
        <p:spPr>
          <a:xfrm>
            <a:off x="8215464" y="5092204"/>
            <a:ext cx="999788" cy="785514"/>
          </a:xfrm>
          <a:prstGeom prst="rect">
            <a:avLst/>
          </a:prstGeom>
          <a:solidFill>
            <a:srgbClr val="00206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2400" dirty="0">
              <a:solidFill>
                <a:schemeClr val="tx1"/>
              </a:solidFill>
            </a:endParaRPr>
          </a:p>
        </p:txBody>
      </p:sp>
      <p:sp>
        <p:nvSpPr>
          <p:cNvPr id="17" name="Rectangle 16">
            <a:extLst>
              <a:ext uri="{FF2B5EF4-FFF2-40B4-BE49-F238E27FC236}">
                <a16:creationId xmlns:a16="http://schemas.microsoft.com/office/drawing/2014/main" id="{3CC822D9-B6B1-434A-BAFC-243C51E5C43E}"/>
              </a:ext>
            </a:extLst>
          </p:cNvPr>
          <p:cNvSpPr/>
          <p:nvPr/>
        </p:nvSpPr>
        <p:spPr>
          <a:xfrm>
            <a:off x="6201744" y="5092204"/>
            <a:ext cx="146187" cy="785514"/>
          </a:xfrm>
          <a:prstGeom prst="rect">
            <a:avLst/>
          </a:prstGeom>
          <a:solidFill>
            <a:srgbClr val="00B05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2400" dirty="0">
              <a:solidFill>
                <a:schemeClr val="tx1"/>
              </a:solidFill>
            </a:endParaRPr>
          </a:p>
        </p:txBody>
      </p:sp>
      <p:sp>
        <p:nvSpPr>
          <p:cNvPr id="16" name="Rectangle 15">
            <a:extLst>
              <a:ext uri="{FF2B5EF4-FFF2-40B4-BE49-F238E27FC236}">
                <a16:creationId xmlns:a16="http://schemas.microsoft.com/office/drawing/2014/main" id="{404DD175-A3CB-2C4E-8D84-ED0F3D2DEACF}"/>
              </a:ext>
            </a:extLst>
          </p:cNvPr>
          <p:cNvSpPr/>
          <p:nvPr/>
        </p:nvSpPr>
        <p:spPr>
          <a:xfrm>
            <a:off x="4304063" y="5092204"/>
            <a:ext cx="1081220" cy="785514"/>
          </a:xfrm>
          <a:prstGeom prst="rect">
            <a:avLst/>
          </a:prstGeom>
          <a:solidFill>
            <a:srgbClr val="FFC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sz="2400" dirty="0">
              <a:solidFill>
                <a:schemeClr val="tx1"/>
              </a:solidFill>
            </a:endParaRPr>
          </a:p>
        </p:txBody>
      </p:sp>
      <p:sp>
        <p:nvSpPr>
          <p:cNvPr id="2" name="Title 1">
            <a:extLst>
              <a:ext uri="{FF2B5EF4-FFF2-40B4-BE49-F238E27FC236}">
                <a16:creationId xmlns:a16="http://schemas.microsoft.com/office/drawing/2014/main" id="{CBD10C4C-4865-D34D-B54A-47384D6C032E}"/>
              </a:ext>
            </a:extLst>
          </p:cNvPr>
          <p:cNvSpPr>
            <a:spLocks noGrp="1"/>
          </p:cNvSpPr>
          <p:nvPr>
            <p:ph type="title"/>
          </p:nvPr>
        </p:nvSpPr>
        <p:spPr/>
        <p:txBody>
          <a:bodyPr/>
          <a:lstStyle/>
          <a:p>
            <a:r>
              <a:rPr lang="en-KR" dirty="0"/>
              <a:t>Usage-aware placement</a:t>
            </a:r>
          </a:p>
        </p:txBody>
      </p:sp>
      <p:sp>
        <p:nvSpPr>
          <p:cNvPr id="3" name="Content Placeholder 2">
            <a:extLst>
              <a:ext uri="{FF2B5EF4-FFF2-40B4-BE49-F238E27FC236}">
                <a16:creationId xmlns:a16="http://schemas.microsoft.com/office/drawing/2014/main" id="{49CA67FF-6E8C-7D42-BFE3-547263960023}"/>
              </a:ext>
            </a:extLst>
          </p:cNvPr>
          <p:cNvSpPr>
            <a:spLocks noGrp="1"/>
          </p:cNvSpPr>
          <p:nvPr>
            <p:ph idx="1"/>
          </p:nvPr>
        </p:nvSpPr>
        <p:spPr/>
        <p:txBody>
          <a:bodyPr/>
          <a:lstStyle/>
          <a:p>
            <a:r>
              <a:rPr lang="en-KR" dirty="0"/>
              <a:t>First-touch (Linux default) + usage-aware</a:t>
            </a:r>
          </a:p>
          <a:p>
            <a:pPr lvl="1"/>
            <a:r>
              <a:rPr lang="en-KR" dirty="0"/>
              <a:t>Use first-touch when allocating local memory</a:t>
            </a:r>
          </a:p>
          <a:p>
            <a:pPr lvl="1"/>
            <a:r>
              <a:rPr lang="en-US" dirty="0"/>
              <a:t>A</a:t>
            </a:r>
            <a:r>
              <a:rPr lang="en-KR" dirty="0"/>
              <a:t>llocate memory based on memory usage (allocation on the least usage)</a:t>
            </a:r>
          </a:p>
          <a:p>
            <a:endParaRPr lang="en-KR" dirty="0"/>
          </a:p>
        </p:txBody>
      </p:sp>
      <p:sp>
        <p:nvSpPr>
          <p:cNvPr id="4" name="Rectangle 3">
            <a:extLst>
              <a:ext uri="{FF2B5EF4-FFF2-40B4-BE49-F238E27FC236}">
                <a16:creationId xmlns:a16="http://schemas.microsoft.com/office/drawing/2014/main" id="{0E257A68-F288-6146-9035-6F5A2DF9EF03}"/>
              </a:ext>
            </a:extLst>
          </p:cNvPr>
          <p:cNvSpPr/>
          <p:nvPr/>
        </p:nvSpPr>
        <p:spPr>
          <a:xfrm>
            <a:off x="2413518"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CPU-0</a:t>
            </a:r>
          </a:p>
        </p:txBody>
      </p:sp>
      <p:sp>
        <p:nvSpPr>
          <p:cNvPr id="5" name="Rectangle 4">
            <a:extLst>
              <a:ext uri="{FF2B5EF4-FFF2-40B4-BE49-F238E27FC236}">
                <a16:creationId xmlns:a16="http://schemas.microsoft.com/office/drawing/2014/main" id="{0DE4DD4E-52EA-1E46-A8A9-75FDBA6F672E}"/>
              </a:ext>
            </a:extLst>
          </p:cNvPr>
          <p:cNvSpPr/>
          <p:nvPr/>
        </p:nvSpPr>
        <p:spPr>
          <a:xfrm>
            <a:off x="2413517" y="5092204"/>
            <a:ext cx="1276737" cy="785514"/>
          </a:xfrm>
          <a:prstGeom prst="rect">
            <a:avLst/>
          </a:prstGeom>
          <a:solidFill>
            <a:srgbClr val="C00000"/>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DIMM-0</a:t>
            </a:r>
          </a:p>
        </p:txBody>
      </p:sp>
      <p:sp>
        <p:nvSpPr>
          <p:cNvPr id="6" name="Rectangle 5">
            <a:extLst>
              <a:ext uri="{FF2B5EF4-FFF2-40B4-BE49-F238E27FC236}">
                <a16:creationId xmlns:a16="http://schemas.microsoft.com/office/drawing/2014/main" id="{AF3FA019-F250-6C43-8E32-1AF636C20B10}"/>
              </a:ext>
            </a:extLst>
          </p:cNvPr>
          <p:cNvSpPr/>
          <p:nvPr/>
        </p:nvSpPr>
        <p:spPr>
          <a:xfrm>
            <a:off x="4307632"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CPU-1</a:t>
            </a:r>
          </a:p>
        </p:txBody>
      </p:sp>
      <p:sp>
        <p:nvSpPr>
          <p:cNvPr id="7" name="Rectangle 6">
            <a:extLst>
              <a:ext uri="{FF2B5EF4-FFF2-40B4-BE49-F238E27FC236}">
                <a16:creationId xmlns:a16="http://schemas.microsoft.com/office/drawing/2014/main" id="{E2A75F56-1004-2540-81FE-1980CD9AD912}"/>
              </a:ext>
            </a:extLst>
          </p:cNvPr>
          <p:cNvSpPr/>
          <p:nvPr/>
        </p:nvSpPr>
        <p:spPr>
          <a:xfrm>
            <a:off x="4302222" y="5092204"/>
            <a:ext cx="1276737" cy="7855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DIMM-1</a:t>
            </a:r>
          </a:p>
        </p:txBody>
      </p:sp>
      <p:sp>
        <p:nvSpPr>
          <p:cNvPr id="8" name="Rectangle 7">
            <a:extLst>
              <a:ext uri="{FF2B5EF4-FFF2-40B4-BE49-F238E27FC236}">
                <a16:creationId xmlns:a16="http://schemas.microsoft.com/office/drawing/2014/main" id="{8249E377-6892-F44B-9C00-25707C540370}"/>
              </a:ext>
            </a:extLst>
          </p:cNvPr>
          <p:cNvSpPr/>
          <p:nvPr/>
        </p:nvSpPr>
        <p:spPr>
          <a:xfrm>
            <a:off x="6201746"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CPU-2</a:t>
            </a:r>
          </a:p>
        </p:txBody>
      </p:sp>
      <p:sp>
        <p:nvSpPr>
          <p:cNvPr id="9" name="Rectangle 8">
            <a:extLst>
              <a:ext uri="{FF2B5EF4-FFF2-40B4-BE49-F238E27FC236}">
                <a16:creationId xmlns:a16="http://schemas.microsoft.com/office/drawing/2014/main" id="{6AE17DFA-5DA2-0143-BF7C-9A2017D122D6}"/>
              </a:ext>
            </a:extLst>
          </p:cNvPr>
          <p:cNvSpPr/>
          <p:nvPr/>
        </p:nvSpPr>
        <p:spPr>
          <a:xfrm>
            <a:off x="6201744" y="5106057"/>
            <a:ext cx="1276737" cy="7855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DIMM-2</a:t>
            </a:r>
          </a:p>
        </p:txBody>
      </p:sp>
      <p:sp>
        <p:nvSpPr>
          <p:cNvPr id="10" name="Rectangle 9">
            <a:extLst>
              <a:ext uri="{FF2B5EF4-FFF2-40B4-BE49-F238E27FC236}">
                <a16:creationId xmlns:a16="http://schemas.microsoft.com/office/drawing/2014/main" id="{75B7CD07-CBDB-9848-88CE-E245B83447AB}"/>
              </a:ext>
            </a:extLst>
          </p:cNvPr>
          <p:cNvSpPr/>
          <p:nvPr/>
        </p:nvSpPr>
        <p:spPr>
          <a:xfrm>
            <a:off x="8212498" y="3668485"/>
            <a:ext cx="1276737" cy="129124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800" dirty="0">
                <a:solidFill>
                  <a:schemeClr val="tx1"/>
                </a:solidFill>
              </a:rPr>
              <a:t>CPU-3</a:t>
            </a:r>
          </a:p>
        </p:txBody>
      </p:sp>
      <p:sp>
        <p:nvSpPr>
          <p:cNvPr id="11" name="Rectangle 10">
            <a:extLst>
              <a:ext uri="{FF2B5EF4-FFF2-40B4-BE49-F238E27FC236}">
                <a16:creationId xmlns:a16="http://schemas.microsoft.com/office/drawing/2014/main" id="{15E56571-E3CD-BE4F-8F74-4E5E455CDE82}"/>
              </a:ext>
            </a:extLst>
          </p:cNvPr>
          <p:cNvSpPr/>
          <p:nvPr/>
        </p:nvSpPr>
        <p:spPr>
          <a:xfrm>
            <a:off x="8212497" y="5094182"/>
            <a:ext cx="1276737" cy="78551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sz="2400" dirty="0">
                <a:solidFill>
                  <a:schemeClr val="tx1"/>
                </a:solidFill>
              </a:rPr>
              <a:t>DIMM-3</a:t>
            </a:r>
          </a:p>
        </p:txBody>
      </p:sp>
      <p:sp>
        <p:nvSpPr>
          <p:cNvPr id="12" name="Rectangle 11">
            <a:extLst>
              <a:ext uri="{FF2B5EF4-FFF2-40B4-BE49-F238E27FC236}">
                <a16:creationId xmlns:a16="http://schemas.microsoft.com/office/drawing/2014/main" id="{9356DC6D-E276-764F-8091-1F1099D454BC}"/>
              </a:ext>
            </a:extLst>
          </p:cNvPr>
          <p:cNvSpPr/>
          <p:nvPr/>
        </p:nvSpPr>
        <p:spPr>
          <a:xfrm>
            <a:off x="2413517" y="3249997"/>
            <a:ext cx="1276737" cy="3461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App A </a:t>
            </a:r>
          </a:p>
        </p:txBody>
      </p:sp>
      <p:sp>
        <p:nvSpPr>
          <p:cNvPr id="13" name="Rectangle 12">
            <a:extLst>
              <a:ext uri="{FF2B5EF4-FFF2-40B4-BE49-F238E27FC236}">
                <a16:creationId xmlns:a16="http://schemas.microsoft.com/office/drawing/2014/main" id="{F02B0609-EC33-F943-BA22-E4032B3BFDEA}"/>
              </a:ext>
            </a:extLst>
          </p:cNvPr>
          <p:cNvSpPr/>
          <p:nvPr/>
        </p:nvSpPr>
        <p:spPr>
          <a:xfrm>
            <a:off x="4307631" y="3234592"/>
            <a:ext cx="1276737" cy="34618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App </a:t>
            </a:r>
            <a:r>
              <a:rPr lang="en-US" dirty="0">
                <a:solidFill>
                  <a:schemeClr val="bg1"/>
                </a:solidFill>
              </a:rPr>
              <a:t>B</a:t>
            </a:r>
            <a:r>
              <a:rPr lang="en-KR" dirty="0">
                <a:solidFill>
                  <a:schemeClr val="bg1"/>
                </a:solidFill>
              </a:rPr>
              <a:t> </a:t>
            </a:r>
          </a:p>
        </p:txBody>
      </p:sp>
      <p:sp>
        <p:nvSpPr>
          <p:cNvPr id="14" name="Rectangle 13">
            <a:extLst>
              <a:ext uri="{FF2B5EF4-FFF2-40B4-BE49-F238E27FC236}">
                <a16:creationId xmlns:a16="http://schemas.microsoft.com/office/drawing/2014/main" id="{5896C7A0-5EED-4742-AA8F-A8C7AC1F4DE5}"/>
              </a:ext>
            </a:extLst>
          </p:cNvPr>
          <p:cNvSpPr/>
          <p:nvPr/>
        </p:nvSpPr>
        <p:spPr>
          <a:xfrm>
            <a:off x="6201744" y="3232095"/>
            <a:ext cx="1276737" cy="3461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App C </a:t>
            </a:r>
          </a:p>
        </p:txBody>
      </p:sp>
      <p:sp>
        <p:nvSpPr>
          <p:cNvPr id="15" name="Rectangle 14">
            <a:extLst>
              <a:ext uri="{FF2B5EF4-FFF2-40B4-BE49-F238E27FC236}">
                <a16:creationId xmlns:a16="http://schemas.microsoft.com/office/drawing/2014/main" id="{6202DD1B-B95C-DD48-B8C9-505E25404DC1}"/>
              </a:ext>
            </a:extLst>
          </p:cNvPr>
          <p:cNvSpPr/>
          <p:nvPr/>
        </p:nvSpPr>
        <p:spPr>
          <a:xfrm>
            <a:off x="8212497" y="3232095"/>
            <a:ext cx="1276737" cy="346188"/>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KR" dirty="0">
                <a:solidFill>
                  <a:schemeClr val="bg1"/>
                </a:solidFill>
              </a:rPr>
              <a:t>App D </a:t>
            </a:r>
          </a:p>
        </p:txBody>
      </p:sp>
    </p:spTree>
    <p:extLst>
      <p:ext uri="{BB962C8B-B14F-4D97-AF65-F5344CB8AC3E}">
        <p14:creationId xmlns:p14="http://schemas.microsoft.com/office/powerpoint/2010/main" val="284468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30D6C-3596-9A48-8D9E-7E1DFB96DECB}"/>
              </a:ext>
            </a:extLst>
          </p:cNvPr>
          <p:cNvSpPr>
            <a:spLocks noGrp="1"/>
          </p:cNvSpPr>
          <p:nvPr>
            <p:ph type="title"/>
          </p:nvPr>
        </p:nvSpPr>
        <p:spPr/>
        <p:txBody>
          <a:bodyPr/>
          <a:lstStyle/>
          <a:p>
            <a:r>
              <a:rPr lang="en-KR" dirty="0"/>
              <a:t>Implementation</a:t>
            </a:r>
          </a:p>
        </p:txBody>
      </p:sp>
      <p:sp>
        <p:nvSpPr>
          <p:cNvPr id="3" name="Content Placeholder 2">
            <a:extLst>
              <a:ext uri="{FF2B5EF4-FFF2-40B4-BE49-F238E27FC236}">
                <a16:creationId xmlns:a16="http://schemas.microsoft.com/office/drawing/2014/main" id="{490F8A13-0315-4C4B-8B3D-EF2E9DD5261C}"/>
              </a:ext>
            </a:extLst>
          </p:cNvPr>
          <p:cNvSpPr>
            <a:spLocks noGrp="1"/>
          </p:cNvSpPr>
          <p:nvPr>
            <p:ph idx="1"/>
          </p:nvPr>
        </p:nvSpPr>
        <p:spPr/>
        <p:txBody>
          <a:bodyPr/>
          <a:lstStyle/>
          <a:p>
            <a:r>
              <a:rPr lang="en-KR" dirty="0"/>
              <a:t>Leverage the kernel data structure to know # of allocated pages</a:t>
            </a:r>
          </a:p>
          <a:p>
            <a:pPr lvl="1"/>
            <a:r>
              <a:rPr lang="en-US" dirty="0">
                <a:solidFill>
                  <a:srgbClr val="0432FF"/>
                </a:solidFill>
                <a:latin typeface="Courier" pitchFamily="2" charset="0"/>
              </a:rPr>
              <a:t>s</a:t>
            </a:r>
            <a:r>
              <a:rPr lang="en-KR" dirty="0">
                <a:solidFill>
                  <a:srgbClr val="0432FF"/>
                </a:solidFill>
                <a:latin typeface="Courier" pitchFamily="2" charset="0"/>
              </a:rPr>
              <a:t>truct</a:t>
            </a:r>
            <a:r>
              <a:rPr lang="en-KR" dirty="0">
                <a:latin typeface="Courier" pitchFamily="2" charset="0"/>
              </a:rPr>
              <a:t> pglist_data</a:t>
            </a:r>
          </a:p>
          <a:p>
            <a:pPr lvl="1"/>
            <a:r>
              <a:rPr lang="en-US" dirty="0">
                <a:solidFill>
                  <a:srgbClr val="0432FF"/>
                </a:solidFill>
                <a:latin typeface="Courier" pitchFamily="2" charset="0"/>
              </a:rPr>
              <a:t>s</a:t>
            </a:r>
            <a:r>
              <a:rPr lang="en-KR" dirty="0">
                <a:solidFill>
                  <a:srgbClr val="0432FF"/>
                </a:solidFill>
                <a:latin typeface="Courier" pitchFamily="2" charset="0"/>
              </a:rPr>
              <a:t>truct</a:t>
            </a:r>
            <a:r>
              <a:rPr lang="en-KR" dirty="0">
                <a:latin typeface="Courier" pitchFamily="2" charset="0"/>
              </a:rPr>
              <a:t> zone</a:t>
            </a:r>
          </a:p>
          <a:p>
            <a:pPr lvl="1"/>
            <a:endParaRPr lang="en-KR" dirty="0">
              <a:latin typeface="Courier" pitchFamily="2" charset="0"/>
            </a:endParaRPr>
          </a:p>
          <a:p>
            <a:r>
              <a:rPr lang="en-US" dirty="0"/>
              <a:t>The system counts # of allocated page on each process</a:t>
            </a:r>
          </a:p>
          <a:p>
            <a:pPr lvl="1"/>
            <a:r>
              <a:rPr lang="en-US" dirty="0"/>
              <a:t>When a process uses beyond the local memory, the proposed policies applied</a:t>
            </a:r>
          </a:p>
          <a:p>
            <a:pPr lvl="1"/>
            <a:endParaRPr lang="en-US" dirty="0"/>
          </a:p>
          <a:p>
            <a:r>
              <a:rPr lang="en-US" dirty="0"/>
              <a:t>Counted pages include active &amp; inactive pages</a:t>
            </a:r>
            <a:endParaRPr lang="en-KR" dirty="0"/>
          </a:p>
        </p:txBody>
      </p:sp>
    </p:spTree>
    <p:extLst>
      <p:ext uri="{BB962C8B-B14F-4D97-AF65-F5344CB8AC3E}">
        <p14:creationId xmlns:p14="http://schemas.microsoft.com/office/powerpoint/2010/main" val="4121178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4BFEC-B6F2-F04C-92B3-3772336723B5}"/>
              </a:ext>
            </a:extLst>
          </p:cNvPr>
          <p:cNvSpPr>
            <a:spLocks noGrp="1"/>
          </p:cNvSpPr>
          <p:nvPr>
            <p:ph type="title"/>
          </p:nvPr>
        </p:nvSpPr>
        <p:spPr/>
        <p:txBody>
          <a:bodyPr/>
          <a:lstStyle/>
          <a:p>
            <a:r>
              <a:rPr lang="en-KR" dirty="0"/>
              <a:t>How we set our environment</a:t>
            </a:r>
          </a:p>
        </p:txBody>
      </p:sp>
      <p:sp>
        <p:nvSpPr>
          <p:cNvPr id="3" name="Content Placeholder 2">
            <a:extLst>
              <a:ext uri="{FF2B5EF4-FFF2-40B4-BE49-F238E27FC236}">
                <a16:creationId xmlns:a16="http://schemas.microsoft.com/office/drawing/2014/main" id="{F21AE31C-6711-934B-B747-8E2732932E15}"/>
              </a:ext>
            </a:extLst>
          </p:cNvPr>
          <p:cNvSpPr>
            <a:spLocks noGrp="1"/>
          </p:cNvSpPr>
          <p:nvPr>
            <p:ph idx="1"/>
          </p:nvPr>
        </p:nvSpPr>
        <p:spPr/>
        <p:txBody>
          <a:bodyPr>
            <a:normAutofit/>
          </a:bodyPr>
          <a:lstStyle/>
          <a:p>
            <a:r>
              <a:rPr lang="en-KR" dirty="0"/>
              <a:t>4 sockets machine</a:t>
            </a:r>
          </a:p>
          <a:p>
            <a:pPr lvl="1"/>
            <a:r>
              <a:rPr lang="en-US" dirty="0"/>
              <a:t>Intel Xeon Gold 6242: A s</a:t>
            </a:r>
            <a:r>
              <a:rPr lang="en-KR" dirty="0"/>
              <a:t>ingle chip (16 physical cores) on each socket</a:t>
            </a:r>
          </a:p>
          <a:p>
            <a:pPr lvl="1"/>
            <a:r>
              <a:rPr lang="en-KR" dirty="0"/>
              <a:t>16GB * 4 socket = total 64 GB memory capacity</a:t>
            </a:r>
          </a:p>
          <a:p>
            <a:r>
              <a:rPr lang="en-KR" dirty="0"/>
              <a:t>Linux kernel v5.3</a:t>
            </a:r>
          </a:p>
          <a:p>
            <a:pPr lvl="1"/>
            <a:r>
              <a:rPr lang="en-KR" dirty="0"/>
              <a:t>AutoNUMA enabled</a:t>
            </a:r>
          </a:p>
          <a:p>
            <a:r>
              <a:rPr lang="en-KR" dirty="0"/>
              <a:t>Benchmark</a:t>
            </a:r>
          </a:p>
          <a:p>
            <a:pPr lvl="1"/>
            <a:r>
              <a:rPr lang="en-US" dirty="0"/>
              <a:t>M</a:t>
            </a:r>
            <a:r>
              <a:rPr lang="en-KR" dirty="0"/>
              <a:t>cf / fotonik3d / cam4 from SPECCPU 2017</a:t>
            </a:r>
          </a:p>
          <a:p>
            <a:pPr lvl="1"/>
            <a:r>
              <a:rPr lang="en-KR" dirty="0"/>
              <a:t>MG from NAS parallel benchamrk</a:t>
            </a:r>
          </a:p>
          <a:p>
            <a:pPr lvl="1"/>
            <a:r>
              <a:rPr lang="en-KR" dirty="0"/>
              <a:t>GUPS from HPC Challenge benchmark</a:t>
            </a:r>
          </a:p>
          <a:p>
            <a:pPr lvl="1"/>
            <a:r>
              <a:rPr lang="en-KR" dirty="0"/>
              <a:t>Liblinear</a:t>
            </a:r>
          </a:p>
        </p:txBody>
      </p:sp>
    </p:spTree>
    <p:extLst>
      <p:ext uri="{BB962C8B-B14F-4D97-AF65-F5344CB8AC3E}">
        <p14:creationId xmlns:p14="http://schemas.microsoft.com/office/powerpoint/2010/main" val="948730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2AA9C-4B2F-C546-AE73-1441824BD572}"/>
              </a:ext>
            </a:extLst>
          </p:cNvPr>
          <p:cNvSpPr>
            <a:spLocks noGrp="1"/>
          </p:cNvSpPr>
          <p:nvPr>
            <p:ph type="title"/>
          </p:nvPr>
        </p:nvSpPr>
        <p:spPr/>
        <p:txBody>
          <a:bodyPr/>
          <a:lstStyle/>
          <a:p>
            <a:r>
              <a:rPr lang="en-KR" dirty="0"/>
              <a:t>Other consideration for evaluation</a:t>
            </a:r>
          </a:p>
        </p:txBody>
      </p:sp>
      <p:sp>
        <p:nvSpPr>
          <p:cNvPr id="3" name="Content Placeholder 2">
            <a:extLst>
              <a:ext uri="{FF2B5EF4-FFF2-40B4-BE49-F238E27FC236}">
                <a16:creationId xmlns:a16="http://schemas.microsoft.com/office/drawing/2014/main" id="{44B10C88-233A-7B4C-8BAD-03E169E34179}"/>
              </a:ext>
            </a:extLst>
          </p:cNvPr>
          <p:cNvSpPr>
            <a:spLocks noGrp="1"/>
          </p:cNvSpPr>
          <p:nvPr>
            <p:ph idx="1"/>
          </p:nvPr>
        </p:nvSpPr>
        <p:spPr/>
        <p:txBody>
          <a:bodyPr/>
          <a:lstStyle/>
          <a:p>
            <a:r>
              <a:rPr lang="en-KR" dirty="0"/>
              <a:t>Memory intensive workload on CPU-0 spills memory</a:t>
            </a:r>
          </a:p>
          <a:p>
            <a:pPr lvl="1"/>
            <a:r>
              <a:rPr lang="en-US" dirty="0"/>
              <a:t>E</a:t>
            </a:r>
            <a:r>
              <a:rPr lang="en-KR" dirty="0"/>
              <a:t>ventually uses the remote memory</a:t>
            </a:r>
          </a:p>
          <a:p>
            <a:pPr lvl="1"/>
            <a:r>
              <a:rPr lang="en-KR" dirty="0"/>
              <a:t>MG / GUPS / Liblinear</a:t>
            </a:r>
          </a:p>
          <a:p>
            <a:pPr lvl="1"/>
            <a:endParaRPr lang="en-KR" dirty="0"/>
          </a:p>
          <a:p>
            <a:r>
              <a:rPr lang="en-KR" dirty="0"/>
              <a:t>The rest of workloads on each CPU-X except CPU-0</a:t>
            </a:r>
          </a:p>
          <a:p>
            <a:pPr lvl="1"/>
            <a:r>
              <a:rPr lang="en-US" dirty="0"/>
              <a:t>U</a:t>
            </a:r>
            <a:r>
              <a:rPr lang="en-KR" dirty="0"/>
              <a:t>se only the local memory</a:t>
            </a:r>
          </a:p>
          <a:p>
            <a:pPr lvl="1"/>
            <a:endParaRPr lang="en-KR" dirty="0"/>
          </a:p>
          <a:p>
            <a:r>
              <a:rPr lang="en-KR" dirty="0"/>
              <a:t>Various mixed sets are experimented</a:t>
            </a:r>
          </a:p>
          <a:p>
            <a:pPr lvl="1"/>
            <a:r>
              <a:rPr lang="en-US" dirty="0"/>
              <a:t>F</a:t>
            </a:r>
            <a:r>
              <a:rPr lang="en-KR" dirty="0"/>
              <a:t>ew results are included in the paper</a:t>
            </a:r>
          </a:p>
        </p:txBody>
      </p:sp>
    </p:spTree>
    <p:extLst>
      <p:ext uri="{BB962C8B-B14F-4D97-AF65-F5344CB8AC3E}">
        <p14:creationId xmlns:p14="http://schemas.microsoft.com/office/powerpoint/2010/main" val="813062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2C09-3116-2447-A051-C3D061149652}"/>
              </a:ext>
            </a:extLst>
          </p:cNvPr>
          <p:cNvSpPr>
            <a:spLocks noGrp="1"/>
          </p:cNvSpPr>
          <p:nvPr>
            <p:ph type="title"/>
          </p:nvPr>
        </p:nvSpPr>
        <p:spPr/>
        <p:txBody>
          <a:bodyPr/>
          <a:lstStyle/>
          <a:p>
            <a:r>
              <a:rPr lang="en-KR" dirty="0"/>
              <a:t>Performance comparison</a:t>
            </a:r>
          </a:p>
        </p:txBody>
      </p:sp>
      <p:sp>
        <p:nvSpPr>
          <p:cNvPr id="3" name="Content Placeholder 2">
            <a:extLst>
              <a:ext uri="{FF2B5EF4-FFF2-40B4-BE49-F238E27FC236}">
                <a16:creationId xmlns:a16="http://schemas.microsoft.com/office/drawing/2014/main" id="{696B2558-0FE3-5C44-9151-894C0C15CCCF}"/>
              </a:ext>
            </a:extLst>
          </p:cNvPr>
          <p:cNvSpPr>
            <a:spLocks noGrp="1"/>
          </p:cNvSpPr>
          <p:nvPr>
            <p:ph idx="1"/>
          </p:nvPr>
        </p:nvSpPr>
        <p:spPr/>
        <p:txBody>
          <a:bodyPr/>
          <a:lstStyle/>
          <a:p>
            <a:r>
              <a:rPr lang="en-KR" dirty="0"/>
              <a:t>First-touch (FT)</a:t>
            </a:r>
          </a:p>
          <a:p>
            <a:endParaRPr lang="en-KR" dirty="0"/>
          </a:p>
          <a:p>
            <a:r>
              <a:rPr lang="en-US" dirty="0"/>
              <a:t>P</a:t>
            </a:r>
            <a:r>
              <a:rPr lang="en-KR" dirty="0"/>
              <a:t>age-interleave (PI)</a:t>
            </a:r>
          </a:p>
          <a:p>
            <a:pPr lvl="1"/>
            <a:r>
              <a:rPr lang="en-US" dirty="0"/>
              <a:t>A</a:t>
            </a:r>
            <a:r>
              <a:rPr lang="en-KR" dirty="0"/>
              <a:t>llocate a page one by one on each node</a:t>
            </a:r>
          </a:p>
          <a:p>
            <a:pPr lvl="1"/>
            <a:r>
              <a:rPr lang="en-KR" dirty="0">
                <a:latin typeface="Courier" pitchFamily="2" charset="0"/>
              </a:rPr>
              <a:t>numactl</a:t>
            </a:r>
          </a:p>
          <a:p>
            <a:pPr marL="457200" lvl="1" indent="0">
              <a:buNone/>
            </a:pPr>
            <a:endParaRPr lang="en-KR" dirty="0"/>
          </a:p>
          <a:p>
            <a:r>
              <a:rPr lang="en-KR" dirty="0"/>
              <a:t>Hybrid (HY)</a:t>
            </a:r>
          </a:p>
          <a:p>
            <a:endParaRPr lang="en-KR" dirty="0"/>
          </a:p>
          <a:p>
            <a:r>
              <a:rPr lang="en-US" dirty="0"/>
              <a:t>U</a:t>
            </a:r>
            <a:r>
              <a:rPr lang="en-KR" dirty="0"/>
              <a:t>sage-aware (UA)</a:t>
            </a:r>
          </a:p>
        </p:txBody>
      </p:sp>
    </p:spTree>
    <p:extLst>
      <p:ext uri="{BB962C8B-B14F-4D97-AF65-F5344CB8AC3E}">
        <p14:creationId xmlns:p14="http://schemas.microsoft.com/office/powerpoint/2010/main" val="3922170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B4122-12ED-EB42-9CD0-AE361B2E3A65}"/>
              </a:ext>
            </a:extLst>
          </p:cNvPr>
          <p:cNvSpPr>
            <a:spLocks noGrp="1"/>
          </p:cNvSpPr>
          <p:nvPr>
            <p:ph type="title"/>
          </p:nvPr>
        </p:nvSpPr>
        <p:spPr/>
        <p:txBody>
          <a:bodyPr/>
          <a:lstStyle/>
          <a:p>
            <a:r>
              <a:rPr lang="en-KR" dirty="0"/>
              <a:t>Performance of Proposed polices</a:t>
            </a:r>
          </a:p>
        </p:txBody>
      </p:sp>
      <p:sp>
        <p:nvSpPr>
          <p:cNvPr id="3" name="Content Placeholder 2">
            <a:extLst>
              <a:ext uri="{FF2B5EF4-FFF2-40B4-BE49-F238E27FC236}">
                <a16:creationId xmlns:a16="http://schemas.microsoft.com/office/drawing/2014/main" id="{EB26ED57-FE68-D44B-A995-97EC15949F0D}"/>
              </a:ext>
            </a:extLst>
          </p:cNvPr>
          <p:cNvSpPr>
            <a:spLocks noGrp="1"/>
          </p:cNvSpPr>
          <p:nvPr>
            <p:ph idx="1"/>
          </p:nvPr>
        </p:nvSpPr>
        <p:spPr>
          <a:xfrm>
            <a:off x="838200" y="1825625"/>
            <a:ext cx="10515600" cy="4351338"/>
          </a:xfrm>
        </p:spPr>
        <p:txBody>
          <a:bodyPr/>
          <a:lstStyle/>
          <a:p>
            <a:pPr marL="514350" indent="-514350">
              <a:buFont typeface="+mj-lt"/>
              <a:buAutoNum type="arabicPeriod"/>
            </a:pPr>
            <a:r>
              <a:rPr lang="en-US" dirty="0"/>
              <a:t>All proposed policies are improved over first-touch (FT)</a:t>
            </a:r>
          </a:p>
          <a:p>
            <a:pPr marL="514350" indent="-514350">
              <a:buFont typeface="+mj-lt"/>
              <a:buAutoNum type="arabicPeriod"/>
            </a:pPr>
            <a:r>
              <a:rPr lang="en-US" dirty="0"/>
              <a:t>Memory intensive workload (mg, </a:t>
            </a:r>
            <a:r>
              <a:rPr lang="en-US" dirty="0" err="1"/>
              <a:t>liblinear</a:t>
            </a:r>
            <a:r>
              <a:rPr lang="en-US" dirty="0"/>
              <a:t>, mcf) perf. Bounded memory bandwidth</a:t>
            </a:r>
          </a:p>
          <a:p>
            <a:pPr marL="514350" indent="-514350">
              <a:buFont typeface="+mj-lt"/>
              <a:buAutoNum type="arabicPeriod"/>
            </a:pPr>
            <a:r>
              <a:rPr lang="en-US" dirty="0"/>
              <a:t>Page-interleave(PI) impairs other workloads, such as cam4 due to memory interference</a:t>
            </a:r>
          </a:p>
          <a:p>
            <a:endParaRPr lang="en-KR" dirty="0"/>
          </a:p>
        </p:txBody>
      </p:sp>
      <p:pic>
        <p:nvPicPr>
          <p:cNvPr id="7" name="Picture 6">
            <a:extLst>
              <a:ext uri="{FF2B5EF4-FFF2-40B4-BE49-F238E27FC236}">
                <a16:creationId xmlns:a16="http://schemas.microsoft.com/office/drawing/2014/main" id="{1FCFB67B-16F3-CE48-A1D2-6840C90AFFEB}"/>
              </a:ext>
            </a:extLst>
          </p:cNvPr>
          <p:cNvPicPr>
            <a:picLocks noChangeAspect="1"/>
          </p:cNvPicPr>
          <p:nvPr/>
        </p:nvPicPr>
        <p:blipFill>
          <a:blip r:embed="rId3"/>
          <a:stretch>
            <a:fillRect/>
          </a:stretch>
        </p:blipFill>
        <p:spPr>
          <a:xfrm>
            <a:off x="838200" y="4206875"/>
            <a:ext cx="5029200" cy="2286000"/>
          </a:xfrm>
          <a:prstGeom prst="rect">
            <a:avLst/>
          </a:prstGeom>
        </p:spPr>
      </p:pic>
      <p:pic>
        <p:nvPicPr>
          <p:cNvPr id="9" name="Picture 8">
            <a:extLst>
              <a:ext uri="{FF2B5EF4-FFF2-40B4-BE49-F238E27FC236}">
                <a16:creationId xmlns:a16="http://schemas.microsoft.com/office/drawing/2014/main" id="{3D3F6DB1-F11A-D04A-BA4D-228C065A90C1}"/>
              </a:ext>
            </a:extLst>
          </p:cNvPr>
          <p:cNvPicPr>
            <a:picLocks noChangeAspect="1"/>
          </p:cNvPicPr>
          <p:nvPr/>
        </p:nvPicPr>
        <p:blipFill>
          <a:blip r:embed="rId4"/>
          <a:stretch>
            <a:fillRect/>
          </a:stretch>
        </p:blipFill>
        <p:spPr>
          <a:xfrm>
            <a:off x="6324600" y="4206875"/>
            <a:ext cx="5029200" cy="2286000"/>
          </a:xfrm>
          <a:prstGeom prst="rect">
            <a:avLst/>
          </a:prstGeom>
        </p:spPr>
      </p:pic>
      <p:sp>
        <p:nvSpPr>
          <p:cNvPr id="10" name="Rectangle 9">
            <a:extLst>
              <a:ext uri="{FF2B5EF4-FFF2-40B4-BE49-F238E27FC236}">
                <a16:creationId xmlns:a16="http://schemas.microsoft.com/office/drawing/2014/main" id="{B920833D-2F01-2146-95ED-29592ECD3D3E}"/>
              </a:ext>
            </a:extLst>
          </p:cNvPr>
          <p:cNvSpPr/>
          <p:nvPr/>
        </p:nvSpPr>
        <p:spPr>
          <a:xfrm>
            <a:off x="1531918" y="4870698"/>
            <a:ext cx="1484414" cy="544450"/>
          </a:xfrm>
          <a:custGeom>
            <a:avLst/>
            <a:gdLst>
              <a:gd name="connsiteX0" fmla="*/ 0 w 1484414"/>
              <a:gd name="connsiteY0" fmla="*/ 0 h 544450"/>
              <a:gd name="connsiteX1" fmla="*/ 494805 w 1484414"/>
              <a:gd name="connsiteY1" fmla="*/ 0 h 544450"/>
              <a:gd name="connsiteX2" fmla="*/ 1004453 w 1484414"/>
              <a:gd name="connsiteY2" fmla="*/ 0 h 544450"/>
              <a:gd name="connsiteX3" fmla="*/ 1484414 w 1484414"/>
              <a:gd name="connsiteY3" fmla="*/ 0 h 544450"/>
              <a:gd name="connsiteX4" fmla="*/ 1484414 w 1484414"/>
              <a:gd name="connsiteY4" fmla="*/ 544450 h 544450"/>
              <a:gd name="connsiteX5" fmla="*/ 1034142 w 1484414"/>
              <a:gd name="connsiteY5" fmla="*/ 544450 h 544450"/>
              <a:gd name="connsiteX6" fmla="*/ 524493 w 1484414"/>
              <a:gd name="connsiteY6" fmla="*/ 544450 h 544450"/>
              <a:gd name="connsiteX7" fmla="*/ 0 w 1484414"/>
              <a:gd name="connsiteY7" fmla="*/ 544450 h 544450"/>
              <a:gd name="connsiteX8" fmla="*/ 0 w 1484414"/>
              <a:gd name="connsiteY8" fmla="*/ 0 h 5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414" h="544450" extrusionOk="0">
                <a:moveTo>
                  <a:pt x="0" y="0"/>
                </a:moveTo>
                <a:cubicBezTo>
                  <a:pt x="101271" y="-11255"/>
                  <a:pt x="373435" y="9403"/>
                  <a:pt x="494805" y="0"/>
                </a:cubicBezTo>
                <a:cubicBezTo>
                  <a:pt x="616176" y="-9403"/>
                  <a:pt x="821317" y="16060"/>
                  <a:pt x="1004453" y="0"/>
                </a:cubicBezTo>
                <a:cubicBezTo>
                  <a:pt x="1187589" y="-16060"/>
                  <a:pt x="1314209" y="50526"/>
                  <a:pt x="1484414" y="0"/>
                </a:cubicBezTo>
                <a:cubicBezTo>
                  <a:pt x="1501664" y="179724"/>
                  <a:pt x="1460630" y="365589"/>
                  <a:pt x="1484414" y="544450"/>
                </a:cubicBezTo>
                <a:cubicBezTo>
                  <a:pt x="1275359" y="573086"/>
                  <a:pt x="1194545" y="530087"/>
                  <a:pt x="1034142" y="544450"/>
                </a:cubicBezTo>
                <a:cubicBezTo>
                  <a:pt x="873739" y="558813"/>
                  <a:pt x="776191" y="527916"/>
                  <a:pt x="524493" y="544450"/>
                </a:cubicBezTo>
                <a:cubicBezTo>
                  <a:pt x="272795" y="560984"/>
                  <a:pt x="164587" y="487109"/>
                  <a:pt x="0" y="544450"/>
                </a:cubicBezTo>
                <a:cubicBezTo>
                  <a:pt x="-5537" y="409266"/>
                  <a:pt x="57033" y="165767"/>
                  <a:pt x="0" y="0"/>
                </a:cubicBezTo>
                <a:close/>
              </a:path>
            </a:pathLst>
          </a:custGeom>
          <a:noFill/>
          <a:ln w="57150">
            <a:solidFill>
              <a:srgbClr val="C00000"/>
            </a:solidFill>
            <a:extLst>
              <a:ext uri="{C807C97D-BFC1-408E-A445-0C87EB9F89A2}">
                <ask:lineSketchStyleProps xmlns:ask="http://schemas.microsoft.com/office/drawing/2018/sketchyshapes" sd="3646559756">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1" name="Rectangle 10">
            <a:extLst>
              <a:ext uri="{FF2B5EF4-FFF2-40B4-BE49-F238E27FC236}">
                <a16:creationId xmlns:a16="http://schemas.microsoft.com/office/drawing/2014/main" id="{471630F1-22DC-B847-9250-5E0782764456}"/>
              </a:ext>
            </a:extLst>
          </p:cNvPr>
          <p:cNvSpPr/>
          <p:nvPr/>
        </p:nvSpPr>
        <p:spPr>
          <a:xfrm>
            <a:off x="3978234" y="4598473"/>
            <a:ext cx="736270" cy="544450"/>
          </a:xfrm>
          <a:custGeom>
            <a:avLst/>
            <a:gdLst>
              <a:gd name="connsiteX0" fmla="*/ 0 w 736270"/>
              <a:gd name="connsiteY0" fmla="*/ 0 h 544450"/>
              <a:gd name="connsiteX1" fmla="*/ 368135 w 736270"/>
              <a:gd name="connsiteY1" fmla="*/ 0 h 544450"/>
              <a:gd name="connsiteX2" fmla="*/ 736270 w 736270"/>
              <a:gd name="connsiteY2" fmla="*/ 0 h 544450"/>
              <a:gd name="connsiteX3" fmla="*/ 736270 w 736270"/>
              <a:gd name="connsiteY3" fmla="*/ 544450 h 544450"/>
              <a:gd name="connsiteX4" fmla="*/ 390223 w 736270"/>
              <a:gd name="connsiteY4" fmla="*/ 544450 h 544450"/>
              <a:gd name="connsiteX5" fmla="*/ 0 w 736270"/>
              <a:gd name="connsiteY5" fmla="*/ 544450 h 544450"/>
              <a:gd name="connsiteX6" fmla="*/ 0 w 736270"/>
              <a:gd name="connsiteY6" fmla="*/ 0 h 5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6270" h="544450" extrusionOk="0">
                <a:moveTo>
                  <a:pt x="0" y="0"/>
                </a:moveTo>
                <a:cubicBezTo>
                  <a:pt x="151867" y="-4140"/>
                  <a:pt x="245039" y="8422"/>
                  <a:pt x="368135" y="0"/>
                </a:cubicBezTo>
                <a:cubicBezTo>
                  <a:pt x="491231" y="-8422"/>
                  <a:pt x="660127" y="43352"/>
                  <a:pt x="736270" y="0"/>
                </a:cubicBezTo>
                <a:cubicBezTo>
                  <a:pt x="775147" y="181091"/>
                  <a:pt x="679246" y="431049"/>
                  <a:pt x="736270" y="544450"/>
                </a:cubicBezTo>
                <a:cubicBezTo>
                  <a:pt x="627768" y="555253"/>
                  <a:pt x="462927" y="513096"/>
                  <a:pt x="390223" y="544450"/>
                </a:cubicBezTo>
                <a:cubicBezTo>
                  <a:pt x="317519" y="575804"/>
                  <a:pt x="114008" y="536615"/>
                  <a:pt x="0" y="544450"/>
                </a:cubicBezTo>
                <a:cubicBezTo>
                  <a:pt x="-26131" y="371464"/>
                  <a:pt x="36764" y="136227"/>
                  <a:pt x="0" y="0"/>
                </a:cubicBezTo>
                <a:close/>
              </a:path>
            </a:pathLst>
          </a:custGeom>
          <a:noFill/>
          <a:ln w="57150">
            <a:solidFill>
              <a:srgbClr val="C00000"/>
            </a:solidFill>
            <a:extLst>
              <a:ext uri="{C807C97D-BFC1-408E-A445-0C87EB9F89A2}">
                <ask:lineSketchStyleProps xmlns:ask="http://schemas.microsoft.com/office/drawing/2018/sketchyshapes" sd="3646559756">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3" name="Oval 12">
            <a:extLst>
              <a:ext uri="{FF2B5EF4-FFF2-40B4-BE49-F238E27FC236}">
                <a16:creationId xmlns:a16="http://schemas.microsoft.com/office/drawing/2014/main" id="{D25487B2-1EA0-2C4D-8C77-18937DBD77E3}"/>
              </a:ext>
            </a:extLst>
          </p:cNvPr>
          <p:cNvSpPr/>
          <p:nvPr/>
        </p:nvSpPr>
        <p:spPr>
          <a:xfrm>
            <a:off x="1351314" y="4633383"/>
            <a:ext cx="361208" cy="33969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KR" dirty="0"/>
              <a:t>2</a:t>
            </a:r>
          </a:p>
        </p:txBody>
      </p:sp>
      <p:sp>
        <p:nvSpPr>
          <p:cNvPr id="14" name="Oval 13">
            <a:extLst>
              <a:ext uri="{FF2B5EF4-FFF2-40B4-BE49-F238E27FC236}">
                <a16:creationId xmlns:a16="http://schemas.microsoft.com/office/drawing/2014/main" id="{AA5B257E-A735-D345-8874-DBE0AD83B854}"/>
              </a:ext>
            </a:extLst>
          </p:cNvPr>
          <p:cNvSpPr/>
          <p:nvPr/>
        </p:nvSpPr>
        <p:spPr>
          <a:xfrm>
            <a:off x="3797630" y="4463536"/>
            <a:ext cx="361208" cy="33969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KR" dirty="0"/>
              <a:t>3</a:t>
            </a:r>
          </a:p>
        </p:txBody>
      </p:sp>
    </p:spTree>
    <p:extLst>
      <p:ext uri="{BB962C8B-B14F-4D97-AF65-F5344CB8AC3E}">
        <p14:creationId xmlns:p14="http://schemas.microsoft.com/office/powerpoint/2010/main" val="394223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B4122-12ED-EB42-9CD0-AE361B2E3A65}"/>
              </a:ext>
            </a:extLst>
          </p:cNvPr>
          <p:cNvSpPr>
            <a:spLocks noGrp="1"/>
          </p:cNvSpPr>
          <p:nvPr>
            <p:ph type="title"/>
          </p:nvPr>
        </p:nvSpPr>
        <p:spPr/>
        <p:txBody>
          <a:bodyPr/>
          <a:lstStyle/>
          <a:p>
            <a:r>
              <a:rPr lang="en-KR" dirty="0"/>
              <a:t>Performance of Proposed polices</a:t>
            </a:r>
          </a:p>
        </p:txBody>
      </p:sp>
      <p:sp>
        <p:nvSpPr>
          <p:cNvPr id="3" name="Content Placeholder 2">
            <a:extLst>
              <a:ext uri="{FF2B5EF4-FFF2-40B4-BE49-F238E27FC236}">
                <a16:creationId xmlns:a16="http://schemas.microsoft.com/office/drawing/2014/main" id="{EB26ED57-FE68-D44B-A995-97EC15949F0D}"/>
              </a:ext>
            </a:extLst>
          </p:cNvPr>
          <p:cNvSpPr>
            <a:spLocks noGrp="1"/>
          </p:cNvSpPr>
          <p:nvPr>
            <p:ph idx="1"/>
          </p:nvPr>
        </p:nvSpPr>
        <p:spPr>
          <a:xfrm>
            <a:off x="838200" y="1825625"/>
            <a:ext cx="10515600" cy="4351338"/>
          </a:xfrm>
        </p:spPr>
        <p:txBody>
          <a:bodyPr/>
          <a:lstStyle/>
          <a:p>
            <a:pPr marL="0" indent="0">
              <a:buNone/>
            </a:pPr>
            <a:r>
              <a:rPr lang="en-KR" dirty="0"/>
              <a:t>4.  Not like PI, our proposed policies, Hybrid(HY) &amp; Usage-aware(UA) not impair cam4</a:t>
            </a:r>
          </a:p>
          <a:p>
            <a:pPr lvl="1"/>
            <a:r>
              <a:rPr lang="en-KR" dirty="0"/>
              <a:t>Overall, harmonic mean has improved on our policies</a:t>
            </a:r>
          </a:p>
        </p:txBody>
      </p:sp>
      <p:pic>
        <p:nvPicPr>
          <p:cNvPr id="7" name="Picture 6">
            <a:extLst>
              <a:ext uri="{FF2B5EF4-FFF2-40B4-BE49-F238E27FC236}">
                <a16:creationId xmlns:a16="http://schemas.microsoft.com/office/drawing/2014/main" id="{1FCFB67B-16F3-CE48-A1D2-6840C90AFFEB}"/>
              </a:ext>
            </a:extLst>
          </p:cNvPr>
          <p:cNvPicPr>
            <a:picLocks noChangeAspect="1"/>
          </p:cNvPicPr>
          <p:nvPr/>
        </p:nvPicPr>
        <p:blipFill>
          <a:blip r:embed="rId3"/>
          <a:stretch>
            <a:fillRect/>
          </a:stretch>
        </p:blipFill>
        <p:spPr>
          <a:xfrm>
            <a:off x="838200" y="3890963"/>
            <a:ext cx="5029200" cy="2286000"/>
          </a:xfrm>
          <a:prstGeom prst="rect">
            <a:avLst/>
          </a:prstGeom>
        </p:spPr>
      </p:pic>
      <p:pic>
        <p:nvPicPr>
          <p:cNvPr id="9" name="Picture 8">
            <a:extLst>
              <a:ext uri="{FF2B5EF4-FFF2-40B4-BE49-F238E27FC236}">
                <a16:creationId xmlns:a16="http://schemas.microsoft.com/office/drawing/2014/main" id="{3D3F6DB1-F11A-D04A-BA4D-228C065A90C1}"/>
              </a:ext>
            </a:extLst>
          </p:cNvPr>
          <p:cNvPicPr>
            <a:picLocks noChangeAspect="1"/>
          </p:cNvPicPr>
          <p:nvPr/>
        </p:nvPicPr>
        <p:blipFill>
          <a:blip r:embed="rId4"/>
          <a:stretch>
            <a:fillRect/>
          </a:stretch>
        </p:blipFill>
        <p:spPr>
          <a:xfrm>
            <a:off x="6324600" y="3890963"/>
            <a:ext cx="5029200" cy="2286000"/>
          </a:xfrm>
          <a:prstGeom prst="rect">
            <a:avLst/>
          </a:prstGeom>
        </p:spPr>
      </p:pic>
      <p:sp>
        <p:nvSpPr>
          <p:cNvPr id="8" name="Rectangle 7">
            <a:extLst>
              <a:ext uri="{FF2B5EF4-FFF2-40B4-BE49-F238E27FC236}">
                <a16:creationId xmlns:a16="http://schemas.microsoft.com/office/drawing/2014/main" id="{E3BF8409-E565-7C4D-91DA-DD49B2D0C1B4}"/>
              </a:ext>
            </a:extLst>
          </p:cNvPr>
          <p:cNvSpPr/>
          <p:nvPr/>
        </p:nvSpPr>
        <p:spPr>
          <a:xfrm>
            <a:off x="3978234" y="4289715"/>
            <a:ext cx="736270" cy="544450"/>
          </a:xfrm>
          <a:custGeom>
            <a:avLst/>
            <a:gdLst>
              <a:gd name="connsiteX0" fmla="*/ 0 w 736270"/>
              <a:gd name="connsiteY0" fmla="*/ 0 h 544450"/>
              <a:gd name="connsiteX1" fmla="*/ 368135 w 736270"/>
              <a:gd name="connsiteY1" fmla="*/ 0 h 544450"/>
              <a:gd name="connsiteX2" fmla="*/ 736270 w 736270"/>
              <a:gd name="connsiteY2" fmla="*/ 0 h 544450"/>
              <a:gd name="connsiteX3" fmla="*/ 736270 w 736270"/>
              <a:gd name="connsiteY3" fmla="*/ 544450 h 544450"/>
              <a:gd name="connsiteX4" fmla="*/ 390223 w 736270"/>
              <a:gd name="connsiteY4" fmla="*/ 544450 h 544450"/>
              <a:gd name="connsiteX5" fmla="*/ 0 w 736270"/>
              <a:gd name="connsiteY5" fmla="*/ 544450 h 544450"/>
              <a:gd name="connsiteX6" fmla="*/ 0 w 736270"/>
              <a:gd name="connsiteY6" fmla="*/ 0 h 54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6270" h="544450" extrusionOk="0">
                <a:moveTo>
                  <a:pt x="0" y="0"/>
                </a:moveTo>
                <a:cubicBezTo>
                  <a:pt x="151867" y="-4140"/>
                  <a:pt x="245039" y="8422"/>
                  <a:pt x="368135" y="0"/>
                </a:cubicBezTo>
                <a:cubicBezTo>
                  <a:pt x="491231" y="-8422"/>
                  <a:pt x="660127" y="43352"/>
                  <a:pt x="736270" y="0"/>
                </a:cubicBezTo>
                <a:cubicBezTo>
                  <a:pt x="775147" y="181091"/>
                  <a:pt x="679246" y="431049"/>
                  <a:pt x="736270" y="544450"/>
                </a:cubicBezTo>
                <a:cubicBezTo>
                  <a:pt x="627768" y="555253"/>
                  <a:pt x="462927" y="513096"/>
                  <a:pt x="390223" y="544450"/>
                </a:cubicBezTo>
                <a:cubicBezTo>
                  <a:pt x="317519" y="575804"/>
                  <a:pt x="114008" y="536615"/>
                  <a:pt x="0" y="544450"/>
                </a:cubicBezTo>
                <a:cubicBezTo>
                  <a:pt x="-26131" y="371464"/>
                  <a:pt x="36764" y="136227"/>
                  <a:pt x="0" y="0"/>
                </a:cubicBezTo>
                <a:close/>
              </a:path>
            </a:pathLst>
          </a:custGeom>
          <a:noFill/>
          <a:ln w="57150">
            <a:solidFill>
              <a:srgbClr val="C00000"/>
            </a:solidFill>
            <a:extLst>
              <a:ext uri="{C807C97D-BFC1-408E-A445-0C87EB9F89A2}">
                <ask:lineSketchStyleProps xmlns:ask="http://schemas.microsoft.com/office/drawing/2018/sketchyshapes" sd="3646559756">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1" name="Oval 10">
            <a:extLst>
              <a:ext uri="{FF2B5EF4-FFF2-40B4-BE49-F238E27FC236}">
                <a16:creationId xmlns:a16="http://schemas.microsoft.com/office/drawing/2014/main" id="{3C5E38E6-0C70-4348-AB67-2FEF4E2BC07A}"/>
              </a:ext>
            </a:extLst>
          </p:cNvPr>
          <p:cNvSpPr/>
          <p:nvPr/>
        </p:nvSpPr>
        <p:spPr>
          <a:xfrm>
            <a:off x="3797630" y="4154778"/>
            <a:ext cx="361208" cy="33969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KR" dirty="0"/>
              <a:t>4</a:t>
            </a:r>
          </a:p>
        </p:txBody>
      </p:sp>
    </p:spTree>
    <p:extLst>
      <p:ext uri="{BB962C8B-B14F-4D97-AF65-F5344CB8AC3E}">
        <p14:creationId xmlns:p14="http://schemas.microsoft.com/office/powerpoint/2010/main" val="593937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D387A-CD37-7C44-9B69-194BBE50BF76}"/>
              </a:ext>
            </a:extLst>
          </p:cNvPr>
          <p:cNvSpPr>
            <a:spLocks noGrp="1"/>
          </p:cNvSpPr>
          <p:nvPr>
            <p:ph type="title"/>
          </p:nvPr>
        </p:nvSpPr>
        <p:spPr/>
        <p:txBody>
          <a:bodyPr/>
          <a:lstStyle/>
          <a:p>
            <a:r>
              <a:rPr lang="en-KR" dirty="0"/>
              <a:t>Memory allocation graph</a:t>
            </a:r>
          </a:p>
        </p:txBody>
      </p:sp>
      <p:sp>
        <p:nvSpPr>
          <p:cNvPr id="3" name="Content Placeholder 2">
            <a:extLst>
              <a:ext uri="{FF2B5EF4-FFF2-40B4-BE49-F238E27FC236}">
                <a16:creationId xmlns:a16="http://schemas.microsoft.com/office/drawing/2014/main" id="{C003696E-6DB1-E54E-B15F-B0A37F5D19F5}"/>
              </a:ext>
            </a:extLst>
          </p:cNvPr>
          <p:cNvSpPr>
            <a:spLocks noGrp="1"/>
          </p:cNvSpPr>
          <p:nvPr>
            <p:ph idx="1"/>
          </p:nvPr>
        </p:nvSpPr>
        <p:spPr>
          <a:xfrm>
            <a:off x="838200" y="1825625"/>
            <a:ext cx="6230112" cy="4351338"/>
          </a:xfrm>
        </p:spPr>
        <p:txBody>
          <a:bodyPr/>
          <a:lstStyle/>
          <a:p>
            <a:r>
              <a:rPr lang="en-KR" dirty="0"/>
              <a:t>For first-touch, mg significantly interferes with mcf </a:t>
            </a:r>
          </a:p>
          <a:p>
            <a:endParaRPr lang="en-KR" dirty="0"/>
          </a:p>
          <a:p>
            <a:r>
              <a:rPr lang="en-KR" dirty="0"/>
              <a:t>For page-interleave, all workloads interferes with each other</a:t>
            </a:r>
          </a:p>
          <a:p>
            <a:endParaRPr lang="en-KR" dirty="0"/>
          </a:p>
          <a:p>
            <a:r>
              <a:rPr lang="en-KR" dirty="0"/>
              <a:t>For Hybrid &amp; Usage-aware, memory interference little on mcf</a:t>
            </a:r>
          </a:p>
          <a:p>
            <a:pPr lvl="1"/>
            <a:endParaRPr lang="en-KR" dirty="0"/>
          </a:p>
        </p:txBody>
      </p:sp>
      <p:pic>
        <p:nvPicPr>
          <p:cNvPr id="14" name="Picture 13">
            <a:extLst>
              <a:ext uri="{FF2B5EF4-FFF2-40B4-BE49-F238E27FC236}">
                <a16:creationId xmlns:a16="http://schemas.microsoft.com/office/drawing/2014/main" id="{6945B7D3-68F1-4D45-8592-5A8023B8E7D5}"/>
              </a:ext>
            </a:extLst>
          </p:cNvPr>
          <p:cNvPicPr>
            <a:picLocks noChangeAspect="1"/>
          </p:cNvPicPr>
          <p:nvPr/>
        </p:nvPicPr>
        <p:blipFill>
          <a:blip r:embed="rId3"/>
          <a:stretch>
            <a:fillRect/>
          </a:stretch>
        </p:blipFill>
        <p:spPr>
          <a:xfrm>
            <a:off x="6900672" y="2103120"/>
            <a:ext cx="4572000" cy="3657600"/>
          </a:xfrm>
          <a:prstGeom prst="rect">
            <a:avLst/>
          </a:prstGeom>
        </p:spPr>
      </p:pic>
    </p:spTree>
    <p:extLst>
      <p:ext uri="{BB962C8B-B14F-4D97-AF65-F5344CB8AC3E}">
        <p14:creationId xmlns:p14="http://schemas.microsoft.com/office/powerpoint/2010/main" val="1376848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0CB5C-1812-2243-ACE5-205B0E609F25}"/>
              </a:ext>
            </a:extLst>
          </p:cNvPr>
          <p:cNvSpPr>
            <a:spLocks noGrp="1"/>
          </p:cNvSpPr>
          <p:nvPr>
            <p:ph type="title"/>
          </p:nvPr>
        </p:nvSpPr>
        <p:spPr/>
        <p:txBody>
          <a:bodyPr/>
          <a:lstStyle/>
          <a:p>
            <a:r>
              <a:rPr lang="en-KR" dirty="0"/>
              <a:t>Discussion</a:t>
            </a:r>
          </a:p>
        </p:txBody>
      </p:sp>
      <p:sp>
        <p:nvSpPr>
          <p:cNvPr id="3" name="Content Placeholder 2">
            <a:extLst>
              <a:ext uri="{FF2B5EF4-FFF2-40B4-BE49-F238E27FC236}">
                <a16:creationId xmlns:a16="http://schemas.microsoft.com/office/drawing/2014/main" id="{31637629-B07E-FF4E-8DA5-9EF6E2D5D50A}"/>
              </a:ext>
            </a:extLst>
          </p:cNvPr>
          <p:cNvSpPr>
            <a:spLocks noGrp="1"/>
          </p:cNvSpPr>
          <p:nvPr>
            <p:ph idx="1"/>
          </p:nvPr>
        </p:nvSpPr>
        <p:spPr/>
        <p:txBody>
          <a:bodyPr/>
          <a:lstStyle/>
          <a:p>
            <a:r>
              <a:rPr lang="en-KR" dirty="0"/>
              <a:t>Localizing data</a:t>
            </a:r>
          </a:p>
          <a:p>
            <a:pPr lvl="1"/>
            <a:r>
              <a:rPr lang="en-KR" dirty="0"/>
              <a:t>Increased remote accesses</a:t>
            </a:r>
          </a:p>
          <a:p>
            <a:pPr lvl="1"/>
            <a:r>
              <a:rPr lang="en-US" dirty="0"/>
              <a:t>Hard for s</a:t>
            </a:r>
            <a:r>
              <a:rPr lang="en-KR" dirty="0"/>
              <a:t>cheduler to minimize them</a:t>
            </a:r>
          </a:p>
          <a:p>
            <a:pPr marL="0" indent="0">
              <a:buNone/>
            </a:pPr>
            <a:endParaRPr lang="en-KR" dirty="0"/>
          </a:p>
          <a:p>
            <a:r>
              <a:rPr lang="en-KR" dirty="0"/>
              <a:t>Applying policies to different typologies</a:t>
            </a:r>
          </a:p>
          <a:p>
            <a:pPr lvl="1"/>
            <a:r>
              <a:rPr lang="en-US" dirty="0"/>
              <a:t>Policy on d</a:t>
            </a:r>
            <a:r>
              <a:rPr lang="en-KR" dirty="0"/>
              <a:t>ifferent NUMA group &amp; NUMA distance</a:t>
            </a:r>
          </a:p>
          <a:p>
            <a:pPr lvl="1"/>
            <a:r>
              <a:rPr lang="en-US" dirty="0"/>
              <a:t>A</a:t>
            </a:r>
            <a:r>
              <a:rPr lang="en-KR" dirty="0"/>
              <a:t>llocate closest neighbor group and then faraway group</a:t>
            </a:r>
          </a:p>
        </p:txBody>
      </p:sp>
    </p:spTree>
    <p:extLst>
      <p:ext uri="{BB962C8B-B14F-4D97-AF65-F5344CB8AC3E}">
        <p14:creationId xmlns:p14="http://schemas.microsoft.com/office/powerpoint/2010/main" val="71408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E5D57-6DE6-044A-9D40-61751A4D8854}"/>
              </a:ext>
            </a:extLst>
          </p:cNvPr>
          <p:cNvSpPr>
            <a:spLocks noGrp="1"/>
          </p:cNvSpPr>
          <p:nvPr>
            <p:ph type="title"/>
          </p:nvPr>
        </p:nvSpPr>
        <p:spPr/>
        <p:txBody>
          <a:bodyPr/>
          <a:lstStyle/>
          <a:p>
            <a:r>
              <a:rPr lang="en-KR" dirty="0"/>
              <a:t>Conclusion</a:t>
            </a:r>
          </a:p>
        </p:txBody>
      </p:sp>
      <p:sp>
        <p:nvSpPr>
          <p:cNvPr id="3" name="Content Placeholder 2">
            <a:extLst>
              <a:ext uri="{FF2B5EF4-FFF2-40B4-BE49-F238E27FC236}">
                <a16:creationId xmlns:a16="http://schemas.microsoft.com/office/drawing/2014/main" id="{54AD58BE-5CA5-8746-B9EB-B0793B481ACE}"/>
              </a:ext>
            </a:extLst>
          </p:cNvPr>
          <p:cNvSpPr>
            <a:spLocks noGrp="1"/>
          </p:cNvSpPr>
          <p:nvPr>
            <p:ph idx="1"/>
          </p:nvPr>
        </p:nvSpPr>
        <p:spPr/>
        <p:txBody>
          <a:bodyPr/>
          <a:lstStyle/>
          <a:p>
            <a:r>
              <a:rPr lang="en-KR" dirty="0"/>
              <a:t>Exploiting path diversity on multi-chip systems</a:t>
            </a:r>
          </a:p>
          <a:p>
            <a:endParaRPr lang="en-KR" dirty="0"/>
          </a:p>
          <a:p>
            <a:r>
              <a:rPr lang="en-KR" dirty="0"/>
              <a:t>Simple memory placement for multiple applications</a:t>
            </a:r>
          </a:p>
          <a:p>
            <a:pPr lvl="1"/>
            <a:r>
              <a:rPr lang="en-KR" dirty="0"/>
              <a:t>Hybrid &amp; Usage-aware</a:t>
            </a:r>
          </a:p>
          <a:p>
            <a:pPr lvl="1"/>
            <a:endParaRPr lang="en-KR" dirty="0"/>
          </a:p>
          <a:p>
            <a:r>
              <a:rPr lang="en-KR" dirty="0"/>
              <a:t>Minimizing hot-spot or interference and show better performance.</a:t>
            </a:r>
          </a:p>
          <a:p>
            <a:endParaRPr lang="en-KR" dirty="0"/>
          </a:p>
        </p:txBody>
      </p:sp>
    </p:spTree>
    <p:extLst>
      <p:ext uri="{BB962C8B-B14F-4D97-AF65-F5344CB8AC3E}">
        <p14:creationId xmlns:p14="http://schemas.microsoft.com/office/powerpoint/2010/main" val="23577951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9012</TotalTime>
  <Words>2906</Words>
  <Application>Microsoft Macintosh PowerPoint</Application>
  <PresentationFormat>Widescreen</PresentationFormat>
  <Paragraphs>327</Paragraphs>
  <Slides>21</Slides>
  <Notes>21</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Courier</vt:lpstr>
      <vt:lpstr>Office Theme</vt:lpstr>
      <vt:lpstr>Rethinking Remote Memory Placement  on Large-Memory Systems with Path Diversity</vt:lpstr>
      <vt:lpstr>Emerging multi-chip systems</vt:lpstr>
      <vt:lpstr>A distinct feature of multi-chip systems</vt:lpstr>
      <vt:lpstr>Traditional NUMA systems</vt:lpstr>
      <vt:lpstr>Default memory placement (first-touch)</vt:lpstr>
      <vt:lpstr>Default memory placement (first-touch)</vt:lpstr>
      <vt:lpstr>Our insight</vt:lpstr>
      <vt:lpstr>Memory interference</vt:lpstr>
      <vt:lpstr>Our insight</vt:lpstr>
      <vt:lpstr>Rest of the talk</vt:lpstr>
      <vt:lpstr>Hybrid placement</vt:lpstr>
      <vt:lpstr>Usage-aware placement</vt:lpstr>
      <vt:lpstr>Implementation</vt:lpstr>
      <vt:lpstr>How we set our environment</vt:lpstr>
      <vt:lpstr>Other consideration for evaluation</vt:lpstr>
      <vt:lpstr>Performance comparison</vt:lpstr>
      <vt:lpstr>Performance of Proposed polices</vt:lpstr>
      <vt:lpstr>Performance of Proposed polices</vt:lpstr>
      <vt:lpstr>Memory allocation graph</vt:lpstr>
      <vt:lpstr>Discussion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Rethinking Remote Memory Placement  on Large-Memory Systems with Path Diversity</dc:title>
  <dc:creator>Choe, Wonkyo (bfr4xr)</dc:creator>
  <cp:lastModifiedBy>Jeongseob Ahn</cp:lastModifiedBy>
  <cp:revision>72</cp:revision>
  <dcterms:created xsi:type="dcterms:W3CDTF">2021-07-28T01:37:35Z</dcterms:created>
  <dcterms:modified xsi:type="dcterms:W3CDTF">2021-09-06T11:45:04Z</dcterms:modified>
</cp:coreProperties>
</file>